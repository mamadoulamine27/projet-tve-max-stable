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BEFCB1-918D-DEAF-AE7E-ED64D8144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9EEA0D-ADEB-8A94-3590-6250BE61EA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9E3E80-49DF-76AB-31DD-9D3B5207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BF616-713A-375E-C3CA-F14DB6FB5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8CC21B-16F5-0690-5F13-AB2D6B51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3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D79F62-5074-CE20-DD60-8DAB8A5EA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B42937-6BE1-A02C-4896-E63C7D091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331C5-5D37-F0C3-BD28-C7726A7A5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C083B6-A8F3-B8F9-E4F9-63C27BCF0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61FA65E-A14F-6619-1EB9-676C2008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12360B-53AA-D8A6-B3D5-941A7DF65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3208B8-3ADD-B4AC-48F1-7EA72A440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753FD6-1407-7968-2431-9450416D5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39931D0-062F-BA78-3822-7DF377C78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175599-E9BA-2A73-CD80-C4A75610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860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987A14-750C-3643-E50A-976D67E4F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8D798-A927-C154-44A7-FD2F0B2B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5782539-4AE5-E6B2-4556-4D41ED736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A368B5-2D49-34BA-E88C-69ADDAD1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EAA88AE-F581-78AD-87E7-C45BCB71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D9F317-717D-F34B-230F-CB36028B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8787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83464C-67EB-0AB5-5AB1-90099B623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BA4B16-32EE-1418-147E-2EB6DA798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B78F9-2347-AB5F-B583-68738C452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E0E12FD-87B7-23BB-62CC-BFB18C99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9789A33-5373-5731-CE35-7A49878BA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C3A1896-D6EA-FE94-943B-CE02599D7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15AF605-2DB2-992D-01ED-EB279350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EEB9A95-DC66-5B7B-9227-6C665AC8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31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5690B8-92B4-C2FB-5FEF-7E4D96403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C0ED54F-BE59-9B33-3FD9-4D6F3E0E6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C6AD3A-D8A2-ACEB-4850-2C8BE8B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2B590C-AF75-73B9-DF2B-5812B4C4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74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56A30E-6A63-3EE8-CD0E-1B269A2DA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B9A556-2B29-C768-4AED-A24B205BF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21AFA9D-E763-385D-1EF3-445C93185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82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217E6-CB9D-36DD-A085-93EF0A02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4D407AD-ECBD-499D-4AC1-BD799E9A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623337-5280-C293-02A3-90915D8F4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89990C-72BB-C501-6CBE-C7642DDDD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E37D54-4456-307A-CBDB-2A1D8CDC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674DF0-08DE-F2F6-0EA3-548EF15C9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610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A0B31-267A-C229-4A50-F845B5A39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E6F6957-8A6B-04D3-4A72-7F0FE06C57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7306EE-3FA0-A645-EA04-A0A9AC225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DFC83A-456C-B275-598E-975E65500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7249AA-4A45-7CF2-3E41-8DD6FAE8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E7BF866-2DFF-4866-E312-17965CE56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58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EEC614-62A8-15C4-D36B-D8C5EE0C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A5BE313-825D-6D10-BF4D-23F5BBA3E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2711DB-032F-4292-05F4-6A7DFDCC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6F068A-E1A1-8BED-00CA-2C85CB107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3D18E2-C649-B84E-C5D9-00E0F174A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163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B72964-C026-39DC-E499-3FB196C62C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E8720E-77DC-8214-5625-0B0AAC162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34F529-0462-80AB-B446-9DBF3BCD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F0D82-5EF6-EB6F-4EE9-BD5AD721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D62675-45D5-FBAA-E273-781749600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11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3ABE3DA-FFF2-B42A-9844-46D2ABF09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459645C-5FDB-A3DE-4452-A96300DB2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1B8762-392B-20E4-FE4E-6A7323F1C4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DA3B-489C-4CA6-8B38-CFDCE3D193B9}" type="datetimeFigureOut">
              <a:rPr lang="fr-FR" smtClean="0"/>
              <a:t>27/09/2026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51C2B-66C7-9A0B-70F1-9D4E39B5E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778766-72C3-A8AD-6F25-6838D94CDA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18E5C5-6CB1-40B3-815C-D683BD10E90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5888697-008B-7CF5-7C44-A0CFB875FF8F}"/>
              </a:ext>
            </a:extLst>
          </p:cNvPr>
          <p:cNvSpPr/>
          <p:nvPr/>
        </p:nvSpPr>
        <p:spPr>
          <a:xfrm>
            <a:off x="930728" y="587828"/>
            <a:ext cx="10330543" cy="14695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/>
              <a:t>MESURES DE RISQUE SPATIALE ET PROCESSUS MAX STABLE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BE003A2-E7A4-7BD7-339F-96DD57B2B38E}"/>
              </a:ext>
            </a:extLst>
          </p:cNvPr>
          <p:cNvSpPr txBox="1"/>
          <p:nvPr/>
        </p:nvSpPr>
        <p:spPr>
          <a:xfrm>
            <a:off x="3819932" y="3429000"/>
            <a:ext cx="394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ISUP – MASTER 2 ACTUARIAT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4369230-3A33-CF4C-2A9D-2F83C5917D40}"/>
              </a:ext>
            </a:extLst>
          </p:cNvPr>
          <p:cNvSpPr txBox="1"/>
          <p:nvPr/>
        </p:nvSpPr>
        <p:spPr>
          <a:xfrm>
            <a:off x="2992618" y="2377161"/>
            <a:ext cx="72528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BEYE CHEIKH   –     KEBE MAMADOU LAMINE</a:t>
            </a:r>
          </a:p>
          <a:p>
            <a:r>
              <a:rPr lang="fr-FR" sz="2800" b="1" dirty="0"/>
              <a:t>KEBE MBAYE     –      SENE ABDOULAYE </a:t>
            </a:r>
          </a:p>
        </p:txBody>
      </p:sp>
      <p:pic>
        <p:nvPicPr>
          <p:cNvPr id="10" name="Image 9" descr="L'ESILV signe un accord de double diplôme Ingénieur Statisticien ...">
            <a:extLst>
              <a:ext uri="{FF2B5EF4-FFF2-40B4-BE49-F238E27FC236}">
                <a16:creationId xmlns:a16="http://schemas.microsoft.com/office/drawing/2014/main" id="{736C0712-8F47-712F-83DB-92FA041F2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1757" y="4811134"/>
            <a:ext cx="2302616" cy="1337687"/>
          </a:xfrm>
          <a:prstGeom prst="rect">
            <a:avLst/>
          </a:prstGeom>
        </p:spPr>
      </p:pic>
      <p:pic>
        <p:nvPicPr>
          <p:cNvPr id="11" name="Image 10" descr="Avis et témoignages sur Sorbonne Université - Capitaine Study">
            <a:extLst>
              <a:ext uri="{FF2B5EF4-FFF2-40B4-BE49-F238E27FC236}">
                <a16:creationId xmlns:a16="http://schemas.microsoft.com/office/drawing/2014/main" id="{BE687DC5-ECA9-6CE1-3DA6-5B48E3F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11134"/>
            <a:ext cx="2387697" cy="1555400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A2BF56E1-2BF0-DBE9-FC81-01C8E74F444D}"/>
              </a:ext>
            </a:extLst>
          </p:cNvPr>
          <p:cNvSpPr txBox="1"/>
          <p:nvPr/>
        </p:nvSpPr>
        <p:spPr>
          <a:xfrm>
            <a:off x="4667038" y="4067071"/>
            <a:ext cx="23333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28 octobre 2026</a:t>
            </a:r>
          </a:p>
        </p:txBody>
      </p:sp>
    </p:spTree>
    <p:extLst>
      <p:ext uri="{BB962C8B-B14F-4D97-AF65-F5344CB8AC3E}">
        <p14:creationId xmlns:p14="http://schemas.microsoft.com/office/powerpoint/2010/main" val="1112297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491276A-B02F-89C0-B945-17BAFABCF282}"/>
                  </a:ext>
                </a:extLst>
              </p:cNvPr>
              <p:cNvSpPr txBox="1"/>
              <p:nvPr/>
            </p:nvSpPr>
            <p:spPr>
              <a:xfrm>
                <a:off x="6487886" y="6009434"/>
                <a:ext cx="819007" cy="8485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fr-FR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fr-FR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5491276A-B02F-89C0-B945-17BAFABCF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886" y="6009434"/>
                <a:ext cx="819007" cy="8485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C28E021-D238-606F-8283-384AF4A937D6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F642A-5FE3-94C8-02D6-CA935ED03C18}"/>
              </a:ext>
            </a:extLst>
          </p:cNvPr>
          <p:cNvSpPr/>
          <p:nvPr/>
        </p:nvSpPr>
        <p:spPr>
          <a:xfrm>
            <a:off x="620485" y="1665514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Evènement environnementaux extrêmes (canicules, ouragans, inondations…) : </a:t>
            </a:r>
          </a:p>
          <a:p>
            <a:r>
              <a:rPr lang="fr-FR" dirty="0">
                <a:solidFill>
                  <a:schemeClr val="tx1"/>
                </a:solidFill>
              </a:rPr>
              <a:t>des évènements qui touche une étendue géographique, pas un seul point isolé.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F4736954-6508-E726-37BA-33030646B0D7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Aléa climatique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5DF1FF2-4B51-7125-0618-054FCDD73A51}"/>
              </a:ext>
            </a:extLst>
          </p:cNvPr>
          <p:cNvSpPr/>
          <p:nvPr/>
        </p:nvSpPr>
        <p:spPr>
          <a:xfrm>
            <a:off x="620485" y="2896121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Décisions des autorités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9E99E-50FB-149D-B1DA-EC87A093C72C}"/>
              </a:ext>
            </a:extLst>
          </p:cNvPr>
          <p:cNvSpPr/>
          <p:nvPr/>
        </p:nvSpPr>
        <p:spPr>
          <a:xfrm>
            <a:off x="620485" y="3286835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dirty="0">
                <a:solidFill>
                  <a:schemeClr val="tx1"/>
                </a:solidFill>
              </a:rPr>
              <a:t>Où est-il raisonnable de construire ?</a:t>
            </a:r>
          </a:p>
          <a:p>
            <a:r>
              <a:rPr lang="fr-FR" dirty="0">
                <a:solidFill>
                  <a:schemeClr val="tx1"/>
                </a:solidFill>
              </a:rPr>
              <a:t>Quelles zones classer à risque ?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4960A2B-1F31-4D99-A990-82A33BDD1BFF}"/>
              </a:ext>
            </a:extLst>
          </p:cNvPr>
          <p:cNvSpPr/>
          <p:nvPr/>
        </p:nvSpPr>
        <p:spPr>
          <a:xfrm>
            <a:off x="620484" y="452897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Portefeuille d’assurance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2E0BBC-94DF-CDA2-A069-72E8064AAD50}"/>
              </a:ext>
            </a:extLst>
          </p:cNvPr>
          <p:cNvSpPr/>
          <p:nvPr/>
        </p:nvSpPr>
        <p:spPr>
          <a:xfrm>
            <a:off x="620484" y="4909458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la zone géographique de souscription determine directement l’exposition au risque.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33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CECBC-3B52-4B63-541D-D70BC512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519A28-2A6E-A4D7-5863-BB779C0A4588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CONTEXTE ET MOTIVATION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/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Idée intuitive 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appliquer une mesure de risque Π (variance,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VaR.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..)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chaque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point,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puis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moyenner sur la région A.</a:t>
                </a:r>
              </a:p>
              <a:p>
                <a:pPr>
                  <a:spcAft>
                    <a:spcPts val="1600"/>
                  </a:spcAft>
                  <a:buSzPct val="100000"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𝛱</m:t>
                      </m:r>
                      <m:d>
                        <m:dPr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0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𝛱</m:t>
                          </m:r>
                          <m:d>
                            <m:dPr>
                              <m:ctrlPr>
                                <a:rPr lang="en-US" sz="20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sz="20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Problème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le processus de coût est stationnaire :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𝛱</m:t>
                    </m:r>
                    <m:d>
                      <m:dPr>
                        <m:ctrlPr>
                          <a:rPr 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  <a:p>
                <a:pPr marL="228600" indent="-228600">
                  <a:spcAft>
                    <a:spcPts val="1600"/>
                  </a:spcAft>
                  <a:buSzPct val="100000"/>
                  <a:buChar char="•"/>
                </a:pPr>
                <a:r>
                  <a:rPr lang="en-US" sz="2000" b="1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Résultat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: la mesure « spatiale » se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réduit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à la mesure d'un site unique — toute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l'information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dépendance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spatiale </a:t>
                </a:r>
                <a:r>
                  <a:rPr lang="en-US" sz="2000" dirty="0" err="1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disparaît</a:t>
                </a:r>
                <a:r>
                  <a:rPr lang="en-US" sz="2000" dirty="0">
                    <a:solidFill>
                      <a:srgbClr val="1B243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A8E4FFE-8178-B87D-53A2-91AA17AE7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85" y="1665513"/>
                <a:ext cx="10308771" cy="2939143"/>
              </a:xfrm>
              <a:prstGeom prst="rect">
                <a:avLst/>
              </a:prstGeom>
              <a:blipFill>
                <a:blip r:embed="rId2"/>
                <a:stretch>
                  <a:fillRect l="-590" t="-619" r="-531" b="-26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824B4D3-A8C0-EAB2-2810-BB09BA22E0E3}"/>
              </a:ext>
            </a:extLst>
          </p:cNvPr>
          <p:cNvSpPr/>
          <p:nvPr/>
        </p:nvSpPr>
        <p:spPr>
          <a:xfrm>
            <a:off x="620485" y="127466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Approche naïve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3C4B7B1-B0C0-334C-FA24-768894C2B8FA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35385-4EE7-1721-B96B-00A58CB439A1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Agréger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d’abord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puis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risque.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8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FA7D6-6AF8-BA04-8D8D-8A03CFB0D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A07869-8A3B-E19E-E10E-9A9C619038C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DABE4-926D-3C75-9EDA-C41FEFD6F519}"/>
              </a:ext>
            </a:extLst>
          </p:cNvPr>
          <p:cNvSpPr/>
          <p:nvPr/>
        </p:nvSpPr>
        <p:spPr>
          <a:xfrm>
            <a:off x="620485" y="1584132"/>
            <a:ext cx="10308771" cy="32055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</a:t>
            </a:r>
            <a:r>
              <a:rPr lang="en-US" sz="2400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localisations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r>
              <a:rPr lang="en-US" sz="2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un processus max-stable simple </a:t>
            </a: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>
              <a:spcAft>
                <a:spcPts val="1600"/>
              </a:spcAft>
              <a:buSzPct val="100000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Dependance parfait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intermédiare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             </a:t>
            </a:r>
            <a:r>
              <a:rPr lang="en-US" sz="1600" b="1" dirty="0" err="1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</a:t>
            </a: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extreme</a:t>
            </a:r>
          </a:p>
          <a:p>
            <a:pPr>
              <a:spcAft>
                <a:spcPts val="1600"/>
              </a:spcAft>
              <a:buSzPct val="100000"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extremes</a:t>
            </a: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3AAD72-73F4-AD71-831D-645A4A6418F8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Définition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C12E178-D70E-4B83-0C6B-27F99052A1AB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Conséquence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F7FDBC-0CD8-DAF3-9223-A2B2214CCF1E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>
                <a:solidFill>
                  <a:schemeClr val="tx1"/>
                </a:solidFill>
              </a:rPr>
              <a:t>Si le processus est </a:t>
            </a:r>
            <a:r>
              <a:rPr lang="en-US" sz="2000" dirty="0" err="1">
                <a:solidFill>
                  <a:schemeClr val="tx1"/>
                </a:solidFill>
              </a:rPr>
              <a:t>isotrope</a:t>
            </a:r>
            <a:r>
              <a:rPr lang="en-US" sz="2000" dirty="0">
                <a:solidFill>
                  <a:schemeClr val="tx1"/>
                </a:solidFill>
              </a:rPr>
              <a:t> ,</a:t>
            </a:r>
            <a:r>
              <a:rPr lang="el-GR" sz="2000" dirty="0">
                <a:solidFill>
                  <a:schemeClr val="tx2">
                    <a:lumMod val="75000"/>
                  </a:schemeClr>
                </a:solidFill>
              </a:rPr>
              <a:t>Θ</a:t>
            </a:r>
            <a:r>
              <a:rPr lang="fr-FR" sz="20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depend </a:t>
            </a:r>
            <a:r>
              <a:rPr lang="en-US" sz="2000" dirty="0" err="1">
                <a:solidFill>
                  <a:schemeClr val="tx1"/>
                </a:solidFill>
              </a:rPr>
              <a:t>seulement</a:t>
            </a:r>
            <a:r>
              <a:rPr lang="en-US" sz="2000" dirty="0">
                <a:solidFill>
                  <a:schemeClr val="tx1"/>
                </a:solidFill>
              </a:rPr>
              <a:t> de la distance  h=||x1-x2||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8942208-A6BE-1CAB-30A0-4C91F4F55D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027" y="2564326"/>
            <a:ext cx="4054191" cy="707922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70A60DCE-4656-B8FB-D038-FAD60571034B}"/>
              </a:ext>
            </a:extLst>
          </p:cNvPr>
          <p:cNvSpPr txBox="1"/>
          <p:nvPr/>
        </p:nvSpPr>
        <p:spPr>
          <a:xfrm>
            <a:off x="51464" y="3127262"/>
            <a:ext cx="292608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EA580C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1</a:t>
            </a:r>
            <a:endParaRPr lang="fr-FR" dirty="0">
              <a:solidFill>
                <a:schemeClr val="tx2">
                  <a:lumMod val="75000"/>
                </a:schemeClr>
              </a:solidFill>
            </a:endParaRPr>
          </a:p>
          <a:p>
            <a:pPr algn="ctr">
              <a:defRPr sz="2400" b="1">
                <a:solidFill>
                  <a:srgbClr val="EA580C"/>
                </a:solidFill>
              </a:defRPr>
            </a:pP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370B8396-81B7-FA11-7218-3434A2956428}"/>
              </a:ext>
            </a:extLst>
          </p:cNvPr>
          <p:cNvSpPr txBox="1"/>
          <p:nvPr/>
        </p:nvSpPr>
        <p:spPr>
          <a:xfrm>
            <a:off x="3510568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1 &lt; Θ &lt; 2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3AD0C5B-5F73-B594-CED0-6327404C6A0B}"/>
              </a:ext>
            </a:extLst>
          </p:cNvPr>
          <p:cNvSpPr txBox="1"/>
          <p:nvPr/>
        </p:nvSpPr>
        <p:spPr>
          <a:xfrm>
            <a:off x="7502697" y="3192808"/>
            <a:ext cx="292608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6A34A"/>
                </a:solidFill>
              </a:defRPr>
            </a:pPr>
            <a:r>
              <a:rPr dirty="0">
                <a:solidFill>
                  <a:schemeClr val="tx2">
                    <a:lumMod val="75000"/>
                  </a:schemeClr>
                </a:solidFill>
              </a:rPr>
              <a:t>Θ = 2</a:t>
            </a:r>
          </a:p>
        </p:txBody>
      </p:sp>
    </p:spTree>
    <p:extLst>
      <p:ext uri="{BB962C8B-B14F-4D97-AF65-F5344CB8AC3E}">
        <p14:creationId xmlns:p14="http://schemas.microsoft.com/office/powerpoint/2010/main" val="185968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79B07-953B-2B10-7BF4-378F7833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C61F060-6595-0E78-927C-C78299D53263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BCF152-08CE-45E2-B805-A45F593323B2}"/>
              </a:ext>
            </a:extLst>
          </p:cNvPr>
          <p:cNvSpPr/>
          <p:nvPr/>
        </p:nvSpPr>
        <p:spPr>
          <a:xfrm>
            <a:off x="620485" y="1665513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38E18B-DCBB-13F0-AFDC-09CF7A0771A6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Pourquoi </a:t>
            </a:r>
            <a:r>
              <a:rPr lang="el-GR" sz="2400" dirty="0">
                <a:solidFill>
                  <a:schemeClr val="bg1"/>
                </a:solidFill>
              </a:rPr>
              <a:t>Θ</a:t>
            </a:r>
            <a:r>
              <a:rPr lang="fr-FR" sz="2400" dirty="0">
                <a:solidFill>
                  <a:schemeClr val="bg1"/>
                </a:solidFill>
              </a:rPr>
              <a:t> est important pour la </a:t>
            </a:r>
            <a:r>
              <a:rPr lang="fr-FR" sz="2400" dirty="0" err="1">
                <a:solidFill>
                  <a:schemeClr val="bg1"/>
                </a:solidFill>
              </a:rPr>
              <a:t>diversifiaction</a:t>
            </a:r>
            <a:r>
              <a:rPr lang="fr-FR" sz="2400" dirty="0">
                <a:solidFill>
                  <a:schemeClr val="bg1"/>
                </a:solidFill>
              </a:rPr>
              <a:t> spatiale 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E3EE252-4B34-CA09-4386-F49CDEF8F74E}"/>
              </a:ext>
            </a:extLst>
          </p:cNvPr>
          <p:cNvSpPr/>
          <p:nvPr/>
        </p:nvSpPr>
        <p:spPr>
          <a:xfrm>
            <a:off x="620484" y="4812006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Interprétation actuarielle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00B62D-10CA-94FD-6D4F-89B06BA2EBA3}"/>
              </a:ext>
            </a:extLst>
          </p:cNvPr>
          <p:cNvSpPr/>
          <p:nvPr/>
        </p:nvSpPr>
        <p:spPr>
          <a:xfrm>
            <a:off x="620484" y="5214780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Éloigner</a:t>
            </a:r>
            <a:r>
              <a:rPr lang="en-US" sz="2000" dirty="0">
                <a:solidFill>
                  <a:schemeClr val="tx1"/>
                </a:solidFill>
              </a:rPr>
              <a:t> les </a:t>
            </a:r>
            <a:r>
              <a:rPr lang="en-US" sz="2000" dirty="0" err="1">
                <a:solidFill>
                  <a:schemeClr val="tx1"/>
                </a:solidFill>
              </a:rPr>
              <a:t>risque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géographiquement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peut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réduire</a:t>
            </a:r>
            <a:r>
              <a:rPr lang="en-US" sz="2000" dirty="0">
                <a:solidFill>
                  <a:schemeClr val="tx1"/>
                </a:solidFill>
              </a:rPr>
              <a:t> la variance du </a:t>
            </a:r>
            <a:r>
              <a:rPr lang="en-US" sz="2000" dirty="0" err="1">
                <a:solidFill>
                  <a:schemeClr val="tx1"/>
                </a:solidFill>
              </a:rPr>
              <a:t>portefeuille</a:t>
            </a:r>
            <a:r>
              <a:rPr lang="en-US" sz="2000" dirty="0">
                <a:solidFill>
                  <a:schemeClr val="tx1"/>
                </a:solidFill>
              </a:rPr>
              <a:t> -&gt; diversification </a:t>
            </a:r>
            <a:r>
              <a:rPr lang="en-US" sz="2000" dirty="0" err="1">
                <a:solidFill>
                  <a:schemeClr val="tx1"/>
                </a:solidFill>
              </a:rPr>
              <a:t>spatiale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B469D427-61C4-942C-7FB7-C47B2B1EBD66}"/>
              </a:ext>
            </a:extLst>
          </p:cNvPr>
          <p:cNvSpPr txBox="1"/>
          <p:nvPr/>
        </p:nvSpPr>
        <p:spPr>
          <a:xfrm>
            <a:off x="3169920" y="1871509"/>
            <a:ext cx="292608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</a:defRPr>
            </a:pPr>
            <a:r>
              <a:rPr lang="fr-FR" sz="1400" dirty="0">
                <a:solidFill>
                  <a:schemeClr val="tx2">
                    <a:lumMod val="75000"/>
                  </a:schemeClr>
                </a:solidFill>
              </a:rPr>
              <a:t>Quand la distance h augmente </a:t>
            </a:r>
            <a:endParaRPr lang="el-GR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80C5325-A2D7-2CEE-1D7D-B321A76A6DE7}"/>
              </a:ext>
            </a:extLst>
          </p:cNvPr>
          <p:cNvSpPr txBox="1"/>
          <p:nvPr/>
        </p:nvSpPr>
        <p:spPr>
          <a:xfrm>
            <a:off x="1002889" y="3343523"/>
            <a:ext cx="3421627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Θ(h) → 2</a:t>
            </a:r>
            <a:br>
              <a:rPr dirty="0">
                <a:solidFill>
                  <a:schemeClr val="accent1">
                    <a:lumMod val="50000"/>
                  </a:schemeClr>
                </a:solidFill>
              </a:rPr>
            </a:br>
            <a:r>
              <a:rPr dirty="0">
                <a:solidFill>
                  <a:schemeClr val="accent1">
                    <a:lumMod val="50000"/>
                  </a:schemeClr>
                </a:solidFill>
              </a:rPr>
              <a:t>à grande distance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1896830-3941-29E1-558E-4AB2C8C6B0B8}"/>
              </a:ext>
            </a:extLst>
          </p:cNvPr>
          <p:cNvSpPr txBox="1"/>
          <p:nvPr/>
        </p:nvSpPr>
        <p:spPr>
          <a:xfrm>
            <a:off x="6990734" y="3343522"/>
            <a:ext cx="3759223" cy="8002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R2(</a:t>
            </a:r>
            <a:r>
              <a:rPr lang="el-GR" dirty="0">
                <a:solidFill>
                  <a:schemeClr val="accent1">
                    <a:lumMod val="50000"/>
                  </a:schemeClr>
                </a:solidFill>
              </a:rPr>
              <a:t>λ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A)</a:t>
            </a:r>
            <a:r>
              <a:rPr dirty="0">
                <a:solidFill>
                  <a:schemeClr val="accent1">
                    <a:lumMod val="50000"/>
                  </a:schemeClr>
                </a:solidFill>
              </a:rPr>
              <a:t> →</a:t>
            </a: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0</a:t>
            </a:r>
          </a:p>
          <a:p>
            <a:pPr algn="ctr">
              <a:defRPr sz="2300" b="1">
                <a:solidFill>
                  <a:srgbClr val="16A34A"/>
                </a:solidFill>
              </a:defRPr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</a:rPr>
              <a:t>Quand la région  s’agrandit</a:t>
            </a:r>
            <a:endParaRPr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38671B34-76E5-EBFA-AD20-80365DA1CD67}"/>
              </a:ext>
            </a:extLst>
          </p:cNvPr>
          <p:cNvSpPr/>
          <p:nvPr/>
        </p:nvSpPr>
        <p:spPr>
          <a:xfrm>
            <a:off x="1445342" y="2306115"/>
            <a:ext cx="7678994" cy="8545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dirty="0">
                <a:solidFill>
                  <a:schemeClr val="bg1"/>
                </a:solidFill>
              </a:rPr>
              <a:t>Θ</a:t>
            </a:r>
            <a:r>
              <a:rPr lang="fr-FR" dirty="0"/>
              <a:t>(h) augmente vers 2  ⟶  dépendance extrémale diminue</a:t>
            </a:r>
          </a:p>
        </p:txBody>
      </p:sp>
    </p:spTree>
    <p:extLst>
      <p:ext uri="{BB962C8B-B14F-4D97-AF65-F5344CB8AC3E}">
        <p14:creationId xmlns:p14="http://schemas.microsoft.com/office/powerpoint/2010/main" val="3730420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7370-5DE3-71AF-9F5F-D851C8D8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4506C5-8FE0-D3A3-EC37-60876B8D947F}"/>
              </a:ext>
            </a:extLst>
          </p:cNvPr>
          <p:cNvSpPr/>
          <p:nvPr/>
        </p:nvSpPr>
        <p:spPr>
          <a:xfrm>
            <a:off x="0" y="0"/>
            <a:ext cx="12192000" cy="7080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800" dirty="0"/>
              <a:t>Coefficient Extrémal: mesurer la </a:t>
            </a:r>
            <a:r>
              <a:rPr lang="fr-FR" sz="2800" dirty="0" err="1"/>
              <a:t>dépensdanace</a:t>
            </a:r>
            <a:r>
              <a:rPr lang="fr-FR" sz="2800" dirty="0"/>
              <a:t> des </a:t>
            </a:r>
            <a:r>
              <a:rPr lang="fr-FR" sz="2800" dirty="0" err="1"/>
              <a:t>extremes</a:t>
            </a:r>
            <a:endParaRPr lang="fr-FR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256E6E-56F8-F466-7578-368F126BFD69}"/>
              </a:ext>
            </a:extLst>
          </p:cNvPr>
          <p:cNvSpPr/>
          <p:nvPr/>
        </p:nvSpPr>
        <p:spPr>
          <a:xfrm>
            <a:off x="620482" y="1572281"/>
            <a:ext cx="10308771" cy="29391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b="1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1600"/>
              </a:spcAft>
              <a:buSzPct val="100000"/>
            </a:pPr>
            <a:endParaRPr lang="en-US" sz="2000" dirty="0">
              <a:solidFill>
                <a:srgbClr val="1B24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endParaRPr lang="en-US" sz="200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BD5614B-84E8-00EE-A2A1-362C047A67E2}"/>
              </a:ext>
            </a:extLst>
          </p:cNvPr>
          <p:cNvSpPr/>
          <p:nvPr/>
        </p:nvSpPr>
        <p:spPr>
          <a:xfrm>
            <a:off x="620483" y="1181358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>
                <a:solidFill>
                  <a:schemeClr val="bg1"/>
                </a:solidFill>
              </a:rPr>
              <a:t>Lien avec le </a:t>
            </a:r>
            <a:r>
              <a:rPr lang="fr-FR" sz="2400" dirty="0" err="1">
                <a:solidFill>
                  <a:schemeClr val="bg1"/>
                </a:solidFill>
              </a:rPr>
              <a:t>mixing</a:t>
            </a:r>
            <a:endParaRPr lang="fr-FR" sz="2400" dirty="0">
              <a:solidFill>
                <a:schemeClr val="bg1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278DCFF-8D10-33E7-0B64-9CD59C92CDE2}"/>
              </a:ext>
            </a:extLst>
          </p:cNvPr>
          <p:cNvSpPr/>
          <p:nvPr/>
        </p:nvSpPr>
        <p:spPr>
          <a:xfrm>
            <a:off x="620481" y="4670190"/>
            <a:ext cx="10308771" cy="3804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dirty="0"/>
              <a:t>En somme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994698-6494-BB87-318A-0F8E3D11F5B1}"/>
              </a:ext>
            </a:extLst>
          </p:cNvPr>
          <p:cNvSpPr/>
          <p:nvPr/>
        </p:nvSpPr>
        <p:spPr>
          <a:xfrm>
            <a:off x="620481" y="5163051"/>
            <a:ext cx="10308771" cy="10673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D7AC9-1E1D-E672-B223-B8FA4574475E}"/>
              </a:ext>
            </a:extLst>
          </p:cNvPr>
          <p:cNvSpPr txBox="1"/>
          <p:nvPr/>
        </p:nvSpPr>
        <p:spPr>
          <a:xfrm>
            <a:off x="2231923" y="1975218"/>
            <a:ext cx="552572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162A46"/>
                </a:solidFill>
              </a:defRPr>
            </a:pPr>
            <a:r>
              <a:rPr dirty="0">
                <a:solidFill>
                  <a:schemeClr val="accent1">
                    <a:lumMod val="50000"/>
                  </a:schemeClr>
                </a:solidFill>
              </a:rPr>
              <a:t>r(h) = 2 − Θ(h)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DCA9BA43-8C8D-C51B-FD8B-EE9B8B04E139}"/>
              </a:ext>
            </a:extLst>
          </p:cNvPr>
          <p:cNvSpPr txBox="1"/>
          <p:nvPr/>
        </p:nvSpPr>
        <p:spPr>
          <a:xfrm>
            <a:off x="731519" y="2899201"/>
            <a:ext cx="8441977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191919"/>
                </a:solidFill>
              </a:defRPr>
            </a:pPr>
            <a:r>
              <a:rPr sz="2400" dirty="0"/>
              <a:t>Θ(h) → 2  ⇔  r(h) → 0</a:t>
            </a:r>
            <a:br>
              <a:rPr sz="2400" dirty="0"/>
            </a:br>
            <a:r>
              <a:rPr sz="2400" dirty="0"/>
              <a:t>Dans le cadre de </a:t>
            </a:r>
            <a:r>
              <a:rPr sz="2400" dirty="0" err="1"/>
              <a:t>l’article</a:t>
            </a:r>
            <a:r>
              <a:rPr sz="2400" dirty="0"/>
              <a:t>, </a:t>
            </a:r>
            <a:r>
              <a:rPr sz="2400" dirty="0" err="1"/>
              <a:t>cela</a:t>
            </a:r>
            <a:r>
              <a:rPr sz="2400" dirty="0"/>
              <a:t> </a:t>
            </a:r>
            <a:r>
              <a:rPr sz="2400" dirty="0" err="1"/>
              <a:t>caractérise</a:t>
            </a:r>
            <a:r>
              <a:rPr sz="2400" dirty="0"/>
              <a:t> le mixing.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1C70A6-4555-A880-F161-8560BE0CF83F}"/>
              </a:ext>
            </a:extLst>
          </p:cNvPr>
          <p:cNvSpPr txBox="1"/>
          <p:nvPr/>
        </p:nvSpPr>
        <p:spPr>
          <a:xfrm>
            <a:off x="1032387" y="5373546"/>
            <a:ext cx="9896868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62A46"/>
                </a:solidFill>
              </a:defRPr>
            </a:pPr>
            <a:r>
              <a:rPr dirty="0"/>
              <a:t> Θ </a:t>
            </a:r>
            <a:r>
              <a:rPr dirty="0" err="1"/>
              <a:t>relie</a:t>
            </a:r>
            <a:r>
              <a:rPr dirty="0"/>
              <a:t> </a:t>
            </a:r>
            <a:r>
              <a:rPr dirty="0" err="1"/>
              <a:t>dépendance</a:t>
            </a:r>
            <a:r>
              <a:rPr dirty="0"/>
              <a:t> des </a:t>
            </a:r>
            <a:r>
              <a:rPr dirty="0" err="1"/>
              <a:t>extrêmes</a:t>
            </a:r>
            <a:r>
              <a:rPr dirty="0"/>
              <a:t>, </a:t>
            </a:r>
            <a:r>
              <a:rPr dirty="0" err="1"/>
              <a:t>propriétés</a:t>
            </a:r>
            <a:r>
              <a:rPr dirty="0"/>
              <a:t> du processus max-stable et diversification </a:t>
            </a:r>
            <a:r>
              <a:rPr dirty="0" err="1"/>
              <a:t>géographique</a:t>
            </a:r>
            <a:r>
              <a:rPr dirty="0"/>
              <a:t> du </a:t>
            </a:r>
            <a:r>
              <a:rPr dirty="0" err="1"/>
              <a:t>risque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7067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A3DCA-4EB3-A4E1-5AC2-FB271AF6B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2A5538-1826-9176-0B8D-CEA1D3F76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106500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1842</TotalTime>
  <Words>363</Words>
  <Application>Microsoft Office PowerPoint</Application>
  <PresentationFormat>Grand écran</PresentationFormat>
  <Paragraphs>55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Anta Sarre</dc:creator>
  <cp:lastModifiedBy>Mbaye KEBE</cp:lastModifiedBy>
  <cp:revision>4</cp:revision>
  <dcterms:created xsi:type="dcterms:W3CDTF">2026-09-26T13:17:56Z</dcterms:created>
  <dcterms:modified xsi:type="dcterms:W3CDTF">2026-09-27T20:46:31Z</dcterms:modified>
</cp:coreProperties>
</file>