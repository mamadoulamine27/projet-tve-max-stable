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2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EFCB1-918D-DEAF-AE7E-ED64D8144E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9EEA0D-ADEB-8A94-3590-6250BE61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9E3E80-49DF-76AB-31DD-9D3B5207A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6BF616-713A-375E-C3CA-F14DB6FB5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8CC21B-16F5-0690-5F13-AB2D6B515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73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D79F62-5074-CE20-DD60-8DAB8A5EA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B42937-6BE1-A02C-4896-E63C7D091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331C5-5D37-F0C3-BD28-C7726A7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5C083B6-A8F3-B8F9-E4F9-63C27BCF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61FA65E-A14F-6619-1EB9-676C2008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066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12360B-53AA-D8A6-B3D5-941A7DF65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3208B8-3ADD-B4AC-48F1-7EA72A4409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753FD6-1407-7968-2431-9450416D5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9931D0-062F-BA78-3822-7DF377C78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175599-E9BA-2A73-CD80-C4A75610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86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987A14-750C-3643-E50A-976D67E4F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18D798-A927-C154-44A7-FD2F0B2B0D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5782539-4AE5-E6B2-4556-4D41ED736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FA368B5-2D49-34BA-E88C-69ADDAD1D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EAA88AE-F581-78AD-87E7-C45BCB71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9F317-717D-F34B-230F-CB36028B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78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83464C-67EB-0AB5-5AB1-90099B623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BA4B16-32EE-1418-147E-2EB6DA798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FFB78F9-2347-AB5F-B583-68738C452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E0E12FD-87B7-23BB-62CC-BFB18C9955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9789A33-5373-5731-CE35-7A49878BA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C3A1896-D6EA-FE94-943B-CE02599D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15AF605-2DB2-992D-01ED-EB27935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EEB9A95-DC66-5B7B-9227-6C665AC8A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4317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5690B8-92B4-C2FB-5FEF-7E4D96403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C0ED54F-BE59-9B33-3FD9-4D6F3E0E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4C6AD3A-D8A2-ACEB-4850-2C8BE8B10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62B590C-AF75-73B9-DF2B-5812B4C4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42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D56A30E-6A63-3EE8-CD0E-1B269A2D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8B9A556-2B29-C768-4AED-A24B205BF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1AFA9D-E763-385D-1EF3-445C93185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4826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9217E6-CB9D-36DD-A085-93EF0A02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D407AD-ECBD-499D-4AC1-BD799E9A7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4623337-5280-C293-02A3-90915D8F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E89990C-72BB-C501-6CBE-C7642DDDD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4E37D54-4456-307A-CBDB-2A1D8CDCC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D674DF0-08DE-F2F6-0EA3-548EF15C9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610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8A0B31-267A-C229-4A50-F845B5A39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E6F6957-8A6B-04D3-4A72-7F0FE06C57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7306EE-3FA0-A645-EA04-A0A9AC225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DFC83A-456C-B275-598E-975E6550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7249AA-4A45-7CF2-3E41-8DD6FAE8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7BF866-2DFF-4866-E312-17965CE56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358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EEC614-62A8-15C4-D36B-D8C5EE0C4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A5BE313-825D-6D10-BF4D-23F5BBA3E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711DB-032F-4292-05F4-6A7DFDCC6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6F068A-E1A1-8BED-00CA-2C85CB107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3D18E2-C649-B84E-C5D9-00E0F174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163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8B72964-C026-39DC-E499-3FB196C62C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6E8720E-77DC-8214-5625-0B0AAC162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34F529-0462-80AB-B446-9DBF3BCD9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4F0D82-5EF6-EB6F-4EE9-BD5AD7217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D62675-45D5-FBAA-E273-781749600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119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3ABE3DA-FFF2-B42A-9844-46D2ABF0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59645C-5FDB-A3DE-4452-A96300DB2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E1B8762-392B-20E4-FE4E-6A7323F1C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9DA3B-489C-4CA6-8B38-CFDCE3D193B9}" type="datetimeFigureOut">
              <a:rPr lang="fr-FR" smtClean="0"/>
              <a:t>27/09/2026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151C2B-66C7-9A0B-70F1-9D4E39B5EF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778766-72C3-A8AD-6F25-6838D94CDA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8E5C5-6CB1-40B3-815C-D683BD10E90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3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FA7D6-6AF8-BA04-8D8D-8A03CFB0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A07869-8A3B-E19E-E10E-9A9C619038C3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Coefficient Extrémal: mesurer la </a:t>
            </a:r>
            <a:r>
              <a:rPr lang="fr-FR" sz="2800" dirty="0" err="1"/>
              <a:t>dépensdanace</a:t>
            </a:r>
            <a:r>
              <a:rPr lang="fr-FR" sz="2800" dirty="0"/>
              <a:t> des </a:t>
            </a:r>
            <a:r>
              <a:rPr lang="fr-FR" sz="2800" dirty="0" err="1"/>
              <a:t>extremes</a:t>
            </a:r>
            <a:endParaRPr lang="fr-FR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0DABE4-926D-3C75-9EDA-C41FEFD6F519}"/>
              </a:ext>
            </a:extLst>
          </p:cNvPr>
          <p:cNvSpPr/>
          <p:nvPr/>
        </p:nvSpPr>
        <p:spPr>
          <a:xfrm>
            <a:off x="620485" y="1584132"/>
            <a:ext cx="10308771" cy="32055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b="1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600"/>
              </a:spcAft>
              <a:buSzPct val="100000"/>
            </a:pPr>
            <a:r>
              <a:rPr lang="en-US" sz="2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</a:t>
            </a:r>
            <a:r>
              <a:rPr lang="en-US" sz="24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localisations</a:t>
            </a:r>
            <a:r>
              <a:rPr lang="en-US" sz="2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r>
              <a:rPr lang="en-US" sz="2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r>
              <a:rPr lang="en-US" sz="2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un processus max-stable simple </a:t>
            </a: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  <a:p>
            <a:pPr>
              <a:spcAft>
                <a:spcPts val="1600"/>
              </a:spcAft>
              <a:buSzPct val="100000"/>
            </a:pPr>
            <a:endParaRPr lang="en-US" sz="2000" b="1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600"/>
              </a:spcAft>
              <a:buSzPct val="100000"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Dependance parfait                               </a:t>
            </a:r>
            <a:r>
              <a:rPr lang="en-US" sz="1600" b="1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</a:t>
            </a: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intermédiare</a:t>
            </a: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                             </a:t>
            </a:r>
            <a:r>
              <a:rPr lang="en-US" sz="1600" b="1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Indépendance</a:t>
            </a: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extreme</a:t>
            </a:r>
          </a:p>
          <a:p>
            <a:pPr>
              <a:spcAft>
                <a:spcPts val="1600"/>
              </a:spcAft>
              <a:buSzPct val="100000"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extremes</a:t>
            </a:r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A3AAD72-73F4-AD71-831D-645A4A6418F8}"/>
              </a:ext>
            </a:extLst>
          </p:cNvPr>
          <p:cNvSpPr/>
          <p:nvPr/>
        </p:nvSpPr>
        <p:spPr>
          <a:xfrm>
            <a:off x="620483" y="118135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Définition 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C12E178-D70E-4B83-0C6B-27F99052A1AB}"/>
              </a:ext>
            </a:extLst>
          </p:cNvPr>
          <p:cNvSpPr/>
          <p:nvPr/>
        </p:nvSpPr>
        <p:spPr>
          <a:xfrm>
            <a:off x="620484" y="4812006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Conséquence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F7FDBC-0CD8-DAF3-9223-A2B2214CCF1E}"/>
              </a:ext>
            </a:extLst>
          </p:cNvPr>
          <p:cNvSpPr/>
          <p:nvPr/>
        </p:nvSpPr>
        <p:spPr>
          <a:xfrm>
            <a:off x="620484" y="5214780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sz="2000" dirty="0">
                <a:solidFill>
                  <a:schemeClr val="tx1"/>
                </a:solidFill>
              </a:rPr>
              <a:t>Si le processus est </a:t>
            </a:r>
            <a:r>
              <a:rPr lang="en-US" sz="2000" dirty="0" err="1">
                <a:solidFill>
                  <a:schemeClr val="tx1"/>
                </a:solidFill>
              </a:rPr>
              <a:t>isotrope</a:t>
            </a:r>
            <a:r>
              <a:rPr lang="en-US" sz="2000" dirty="0">
                <a:solidFill>
                  <a:schemeClr val="tx1"/>
                </a:solidFill>
              </a:rPr>
              <a:t> ,</a:t>
            </a:r>
            <a:r>
              <a:rPr lang="el-GR" sz="2000" dirty="0">
                <a:solidFill>
                  <a:schemeClr val="tx2">
                    <a:lumMod val="75000"/>
                  </a:schemeClr>
                </a:solidFill>
              </a:rPr>
              <a:t>Θ</a:t>
            </a:r>
            <a:r>
              <a:rPr lang="fr-FR" sz="20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</a:rPr>
              <a:t>depend </a:t>
            </a:r>
            <a:r>
              <a:rPr lang="en-US" sz="2000" dirty="0" err="1">
                <a:solidFill>
                  <a:schemeClr val="tx1"/>
                </a:solidFill>
              </a:rPr>
              <a:t>seulement</a:t>
            </a:r>
            <a:r>
              <a:rPr lang="en-US" sz="2000" dirty="0">
                <a:solidFill>
                  <a:schemeClr val="tx1"/>
                </a:solidFill>
              </a:rPr>
              <a:t> de la distance  h=||x1-x2||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8942208-A6BE-1CAB-30A0-4C91F4F55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027" y="2564326"/>
            <a:ext cx="4054191" cy="707922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70A60DCE-4656-B8FB-D038-FAD60571034B}"/>
              </a:ext>
            </a:extLst>
          </p:cNvPr>
          <p:cNvSpPr txBox="1"/>
          <p:nvPr/>
        </p:nvSpPr>
        <p:spPr>
          <a:xfrm>
            <a:off x="51464" y="3127262"/>
            <a:ext cx="292608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A580C"/>
                </a:solidFill>
              </a:defRPr>
            </a:pPr>
            <a:r>
              <a:rPr dirty="0">
                <a:solidFill>
                  <a:schemeClr val="tx2">
                    <a:lumMod val="75000"/>
                  </a:schemeClr>
                </a:solidFill>
              </a:rPr>
              <a:t>Θ = 1</a:t>
            </a:r>
            <a:endParaRPr lang="fr-FR" dirty="0">
              <a:solidFill>
                <a:schemeClr val="tx2">
                  <a:lumMod val="75000"/>
                </a:schemeClr>
              </a:solidFill>
            </a:endParaRPr>
          </a:p>
          <a:p>
            <a:pPr algn="ctr">
              <a:defRPr sz="2400" b="1">
                <a:solidFill>
                  <a:srgbClr val="EA580C"/>
                </a:solidFill>
              </a:defRPr>
            </a:pPr>
            <a:endParaRPr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370B8396-81B7-FA11-7218-3434A2956428}"/>
              </a:ext>
            </a:extLst>
          </p:cNvPr>
          <p:cNvSpPr txBox="1"/>
          <p:nvPr/>
        </p:nvSpPr>
        <p:spPr>
          <a:xfrm>
            <a:off x="3510568" y="3192808"/>
            <a:ext cx="292608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rPr dirty="0">
                <a:solidFill>
                  <a:schemeClr val="tx2">
                    <a:lumMod val="75000"/>
                  </a:schemeClr>
                </a:solidFill>
              </a:rPr>
              <a:t>1 &lt; Θ &lt; 2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B3AD0C5B-5F73-B594-CED0-6327404C6A0B}"/>
              </a:ext>
            </a:extLst>
          </p:cNvPr>
          <p:cNvSpPr txBox="1"/>
          <p:nvPr/>
        </p:nvSpPr>
        <p:spPr>
          <a:xfrm>
            <a:off x="7502697" y="3192808"/>
            <a:ext cx="292608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16A34A"/>
                </a:solidFill>
              </a:defRPr>
            </a:pPr>
            <a:r>
              <a:rPr dirty="0">
                <a:solidFill>
                  <a:schemeClr val="tx2">
                    <a:lumMod val="75000"/>
                  </a:schemeClr>
                </a:solidFill>
              </a:rPr>
              <a:t>Θ = 2</a:t>
            </a:r>
          </a:p>
        </p:txBody>
      </p:sp>
    </p:spTree>
    <p:extLst>
      <p:ext uri="{BB962C8B-B14F-4D97-AF65-F5344CB8AC3E}">
        <p14:creationId xmlns:p14="http://schemas.microsoft.com/office/powerpoint/2010/main" val="1859687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79B07-953B-2B10-7BF4-378F7833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C61F060-6595-0E78-927C-C78299D53263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Coefficient Extrémal: mesurer la </a:t>
            </a:r>
            <a:r>
              <a:rPr lang="fr-FR" sz="2800" dirty="0" err="1"/>
              <a:t>dépensdanace</a:t>
            </a:r>
            <a:r>
              <a:rPr lang="fr-FR" sz="2800" dirty="0"/>
              <a:t> des </a:t>
            </a:r>
            <a:r>
              <a:rPr lang="fr-FR" sz="2800" dirty="0" err="1"/>
              <a:t>extremes</a:t>
            </a:r>
            <a:endParaRPr lang="fr-FR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BCF152-08CE-45E2-B805-A45F593323B2}"/>
              </a:ext>
            </a:extLst>
          </p:cNvPr>
          <p:cNvSpPr/>
          <p:nvPr/>
        </p:nvSpPr>
        <p:spPr>
          <a:xfrm>
            <a:off x="620485" y="1665513"/>
            <a:ext cx="10308771" cy="2939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b="1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600"/>
              </a:spcAft>
              <a:buSzPct val="100000"/>
            </a:pPr>
            <a:endParaRPr lang="en-US" sz="2000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438E18B-DCBB-13F0-AFDC-09CF7A0771A6}"/>
              </a:ext>
            </a:extLst>
          </p:cNvPr>
          <p:cNvSpPr/>
          <p:nvPr/>
        </p:nvSpPr>
        <p:spPr>
          <a:xfrm>
            <a:off x="620483" y="118135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>
                <a:solidFill>
                  <a:schemeClr val="bg1"/>
                </a:solidFill>
              </a:rPr>
              <a:t>Pourquoi </a:t>
            </a:r>
            <a:r>
              <a:rPr lang="el-GR" sz="2400" dirty="0">
                <a:solidFill>
                  <a:schemeClr val="bg1"/>
                </a:solidFill>
              </a:rPr>
              <a:t>Θ</a:t>
            </a:r>
            <a:r>
              <a:rPr lang="fr-FR" sz="2400" dirty="0">
                <a:solidFill>
                  <a:schemeClr val="bg1"/>
                </a:solidFill>
              </a:rPr>
              <a:t> est important pour la </a:t>
            </a:r>
            <a:r>
              <a:rPr lang="fr-FR" sz="2400" dirty="0" err="1">
                <a:solidFill>
                  <a:schemeClr val="bg1"/>
                </a:solidFill>
              </a:rPr>
              <a:t>diversifiaction</a:t>
            </a:r>
            <a:r>
              <a:rPr lang="fr-FR" sz="2400" dirty="0">
                <a:solidFill>
                  <a:schemeClr val="bg1"/>
                </a:solidFill>
              </a:rPr>
              <a:t> spatiale 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E3EE252-4B34-CA09-4386-F49CDEF8F74E}"/>
              </a:ext>
            </a:extLst>
          </p:cNvPr>
          <p:cNvSpPr/>
          <p:nvPr/>
        </p:nvSpPr>
        <p:spPr>
          <a:xfrm>
            <a:off x="620484" y="4812006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Interprétation actuarielle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00B62D-10CA-94FD-6D4F-89B06BA2EBA3}"/>
              </a:ext>
            </a:extLst>
          </p:cNvPr>
          <p:cNvSpPr/>
          <p:nvPr/>
        </p:nvSpPr>
        <p:spPr>
          <a:xfrm>
            <a:off x="620484" y="5214780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r>
              <a:rPr lang="en-US" sz="2000" dirty="0" err="1">
                <a:solidFill>
                  <a:schemeClr val="tx1"/>
                </a:solidFill>
              </a:rPr>
              <a:t>Éloigner</a:t>
            </a:r>
            <a:r>
              <a:rPr lang="en-US" sz="2000" dirty="0">
                <a:solidFill>
                  <a:schemeClr val="tx1"/>
                </a:solidFill>
              </a:rPr>
              <a:t> les </a:t>
            </a:r>
            <a:r>
              <a:rPr lang="en-US" sz="2000" dirty="0" err="1">
                <a:solidFill>
                  <a:schemeClr val="tx1"/>
                </a:solidFill>
              </a:rPr>
              <a:t>risque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géographiquement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peut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réduire</a:t>
            </a:r>
            <a:r>
              <a:rPr lang="en-US" sz="2000" dirty="0">
                <a:solidFill>
                  <a:schemeClr val="tx1"/>
                </a:solidFill>
              </a:rPr>
              <a:t> la variance du </a:t>
            </a:r>
            <a:r>
              <a:rPr lang="en-US" sz="2000" dirty="0" err="1">
                <a:solidFill>
                  <a:schemeClr val="tx1"/>
                </a:solidFill>
              </a:rPr>
              <a:t>portefeuille</a:t>
            </a:r>
            <a:r>
              <a:rPr lang="en-US" sz="2000" dirty="0">
                <a:solidFill>
                  <a:schemeClr val="tx1"/>
                </a:solidFill>
              </a:rPr>
              <a:t> -&gt; diversification </a:t>
            </a:r>
            <a:r>
              <a:rPr lang="en-US" sz="2000" dirty="0" err="1">
                <a:solidFill>
                  <a:schemeClr val="tx1"/>
                </a:solidFill>
              </a:rPr>
              <a:t>spatiale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469D427-61C4-942C-7FB7-C47B2B1EBD66}"/>
              </a:ext>
            </a:extLst>
          </p:cNvPr>
          <p:cNvSpPr txBox="1"/>
          <p:nvPr/>
        </p:nvSpPr>
        <p:spPr>
          <a:xfrm>
            <a:off x="3169920" y="1871509"/>
            <a:ext cx="292608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rPr lang="fr-FR" sz="1400" dirty="0">
                <a:solidFill>
                  <a:schemeClr val="tx2">
                    <a:lumMod val="75000"/>
                  </a:schemeClr>
                </a:solidFill>
              </a:rPr>
              <a:t>Quand la distance h augmente </a:t>
            </a:r>
            <a:endParaRPr lang="el-GR" sz="14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80C5325-A2D7-2CEE-1D7D-B321A76A6DE7}"/>
              </a:ext>
            </a:extLst>
          </p:cNvPr>
          <p:cNvSpPr txBox="1"/>
          <p:nvPr/>
        </p:nvSpPr>
        <p:spPr>
          <a:xfrm>
            <a:off x="1002889" y="3343523"/>
            <a:ext cx="3421627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16A34A"/>
                </a:solidFill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Θ(h) → 2</a:t>
            </a:r>
            <a:br>
              <a:rPr dirty="0">
                <a:solidFill>
                  <a:schemeClr val="accent1">
                    <a:lumMod val="50000"/>
                  </a:schemeClr>
                </a:solidFill>
              </a:rPr>
            </a:br>
            <a:r>
              <a:rPr dirty="0">
                <a:solidFill>
                  <a:schemeClr val="accent1">
                    <a:lumMod val="50000"/>
                  </a:schemeClr>
                </a:solidFill>
              </a:rPr>
              <a:t>à grande distance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1896830-3941-29E1-558E-4AB2C8C6B0B8}"/>
              </a:ext>
            </a:extLst>
          </p:cNvPr>
          <p:cNvSpPr txBox="1"/>
          <p:nvPr/>
        </p:nvSpPr>
        <p:spPr>
          <a:xfrm>
            <a:off x="6990734" y="3343522"/>
            <a:ext cx="3759223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 b="1">
                <a:solidFill>
                  <a:srgbClr val="16A34A"/>
                </a:solidFill>
              </a:defRPr>
            </a:pPr>
            <a:r>
              <a:rPr lang="fr-FR" dirty="0">
                <a:solidFill>
                  <a:schemeClr val="accent1">
                    <a:lumMod val="50000"/>
                  </a:schemeClr>
                </a:solidFill>
              </a:rPr>
              <a:t>R2(</a:t>
            </a:r>
            <a:r>
              <a:rPr lang="el-GR" dirty="0">
                <a:solidFill>
                  <a:schemeClr val="accent1">
                    <a:lumMod val="50000"/>
                  </a:schemeClr>
                </a:solidFill>
              </a:rPr>
              <a:t>λ</a:t>
            </a:r>
            <a:r>
              <a:rPr lang="fr-FR" dirty="0">
                <a:solidFill>
                  <a:schemeClr val="accent1">
                    <a:lumMod val="50000"/>
                  </a:schemeClr>
                </a:solidFill>
              </a:rPr>
              <a:t>A)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→</a:t>
            </a:r>
            <a:r>
              <a:rPr lang="fr-FR" dirty="0">
                <a:solidFill>
                  <a:schemeClr val="accent1">
                    <a:lumMod val="50000"/>
                  </a:schemeClr>
                </a:solidFill>
              </a:rPr>
              <a:t>0</a:t>
            </a:r>
          </a:p>
          <a:p>
            <a:pPr algn="ctr">
              <a:defRPr sz="2300" b="1">
                <a:solidFill>
                  <a:srgbClr val="16A34A"/>
                </a:solidFill>
              </a:defRPr>
            </a:pPr>
            <a:r>
              <a:rPr lang="fr-FR" dirty="0">
                <a:solidFill>
                  <a:schemeClr val="accent1">
                    <a:lumMod val="50000"/>
                  </a:schemeClr>
                </a:solidFill>
              </a:rPr>
              <a:t>Quand la région  s’agrandit</a:t>
            </a:r>
            <a:endParaRPr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38671B34-76E5-EBFA-AD20-80365DA1CD67}"/>
              </a:ext>
            </a:extLst>
          </p:cNvPr>
          <p:cNvSpPr/>
          <p:nvPr/>
        </p:nvSpPr>
        <p:spPr>
          <a:xfrm>
            <a:off x="1445342" y="2306115"/>
            <a:ext cx="7678994" cy="8545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dirty="0">
                <a:solidFill>
                  <a:schemeClr val="bg1"/>
                </a:solidFill>
              </a:rPr>
              <a:t>Θ</a:t>
            </a:r>
            <a:r>
              <a:rPr lang="fr-FR" dirty="0"/>
              <a:t>(h) augmente vers 2  ⟶  dépendance extrémale diminue</a:t>
            </a:r>
          </a:p>
        </p:txBody>
      </p:sp>
    </p:spTree>
    <p:extLst>
      <p:ext uri="{BB962C8B-B14F-4D97-AF65-F5344CB8AC3E}">
        <p14:creationId xmlns:p14="http://schemas.microsoft.com/office/powerpoint/2010/main" val="373042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E7370-5DE3-71AF-9F5F-D851C8D8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4506C5-8FE0-D3A3-EC37-60876B8D947F}"/>
              </a:ext>
            </a:extLst>
          </p:cNvPr>
          <p:cNvSpPr/>
          <p:nvPr/>
        </p:nvSpPr>
        <p:spPr>
          <a:xfrm>
            <a:off x="0" y="0"/>
            <a:ext cx="12192000" cy="7080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800" dirty="0"/>
              <a:t>Coefficient Extrémal: mesurer la </a:t>
            </a:r>
            <a:r>
              <a:rPr lang="fr-FR" sz="2800" dirty="0" err="1"/>
              <a:t>dépensdanace</a:t>
            </a:r>
            <a:r>
              <a:rPr lang="fr-FR" sz="2800" dirty="0"/>
              <a:t> des </a:t>
            </a:r>
            <a:r>
              <a:rPr lang="fr-FR" sz="2800" dirty="0" err="1"/>
              <a:t>extremes</a:t>
            </a:r>
            <a:endParaRPr lang="fr-FR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256E6E-56F8-F466-7578-368F126BFD69}"/>
              </a:ext>
            </a:extLst>
          </p:cNvPr>
          <p:cNvSpPr/>
          <p:nvPr/>
        </p:nvSpPr>
        <p:spPr>
          <a:xfrm>
            <a:off x="620482" y="1572281"/>
            <a:ext cx="10308771" cy="2939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b="1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600"/>
              </a:spcAft>
              <a:buSzPct val="100000"/>
            </a:pPr>
            <a:endParaRPr lang="en-US" sz="2000" dirty="0">
              <a:solidFill>
                <a:srgbClr val="1B24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endParaRPr lang="en-US" sz="200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BD5614B-84E8-00EE-A2A1-362C047A67E2}"/>
              </a:ext>
            </a:extLst>
          </p:cNvPr>
          <p:cNvSpPr/>
          <p:nvPr/>
        </p:nvSpPr>
        <p:spPr>
          <a:xfrm>
            <a:off x="620483" y="1181358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>
                <a:solidFill>
                  <a:schemeClr val="bg1"/>
                </a:solidFill>
              </a:rPr>
              <a:t>Lien avec le </a:t>
            </a:r>
            <a:r>
              <a:rPr lang="fr-FR" sz="2400" dirty="0" err="1">
                <a:solidFill>
                  <a:schemeClr val="bg1"/>
                </a:solidFill>
              </a:rPr>
              <a:t>mixing</a:t>
            </a:r>
            <a:endParaRPr lang="fr-FR" sz="2400" dirty="0">
              <a:solidFill>
                <a:schemeClr val="bg1"/>
              </a:solidFill>
            </a:endParaRP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8278DCFF-8D10-33E7-0B64-9CD59C92CDE2}"/>
              </a:ext>
            </a:extLst>
          </p:cNvPr>
          <p:cNvSpPr/>
          <p:nvPr/>
        </p:nvSpPr>
        <p:spPr>
          <a:xfrm>
            <a:off x="620481" y="4670190"/>
            <a:ext cx="10308771" cy="380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400" dirty="0"/>
              <a:t>En somme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994698-6494-BB87-318A-0F8E3D11F5B1}"/>
              </a:ext>
            </a:extLst>
          </p:cNvPr>
          <p:cNvSpPr/>
          <p:nvPr/>
        </p:nvSpPr>
        <p:spPr>
          <a:xfrm>
            <a:off x="620481" y="5163051"/>
            <a:ext cx="10308771" cy="10673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25000"/>
              </a:lnSpc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D7AC9-1E1D-E672-B223-B8FA4574475E}"/>
              </a:ext>
            </a:extLst>
          </p:cNvPr>
          <p:cNvSpPr txBox="1"/>
          <p:nvPr/>
        </p:nvSpPr>
        <p:spPr>
          <a:xfrm>
            <a:off x="2231923" y="1975218"/>
            <a:ext cx="5525729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800" b="1">
                <a:solidFill>
                  <a:srgbClr val="162A46"/>
                </a:solidFill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r(h) = 2 − Θ(h)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DCA9BA43-8C8D-C51B-FD8B-EE9B8B04E139}"/>
              </a:ext>
            </a:extLst>
          </p:cNvPr>
          <p:cNvSpPr txBox="1"/>
          <p:nvPr/>
        </p:nvSpPr>
        <p:spPr>
          <a:xfrm>
            <a:off x="731519" y="2899201"/>
            <a:ext cx="8441977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0">
                <a:solidFill>
                  <a:srgbClr val="191919"/>
                </a:solidFill>
              </a:defRPr>
            </a:pPr>
            <a:r>
              <a:rPr sz="2400" dirty="0"/>
              <a:t>Θ(h) → 2  ⇔  r(h) → 0</a:t>
            </a:r>
            <a:br>
              <a:rPr sz="2400" dirty="0"/>
            </a:br>
            <a:r>
              <a:rPr sz="2400" dirty="0"/>
              <a:t>Dans le cadre de </a:t>
            </a:r>
            <a:r>
              <a:rPr sz="2400" dirty="0" err="1"/>
              <a:t>l’article</a:t>
            </a:r>
            <a:r>
              <a:rPr sz="2400" dirty="0"/>
              <a:t>, </a:t>
            </a:r>
            <a:r>
              <a:rPr sz="2400" dirty="0" err="1"/>
              <a:t>cela</a:t>
            </a:r>
            <a:r>
              <a:rPr sz="2400" dirty="0"/>
              <a:t> </a:t>
            </a:r>
            <a:r>
              <a:rPr sz="2400" dirty="0" err="1"/>
              <a:t>caractérise</a:t>
            </a:r>
            <a:r>
              <a:rPr sz="2400" dirty="0"/>
              <a:t> le mixing.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C70A6-4555-A880-F161-8560BE0CF83F}"/>
              </a:ext>
            </a:extLst>
          </p:cNvPr>
          <p:cNvSpPr txBox="1"/>
          <p:nvPr/>
        </p:nvSpPr>
        <p:spPr>
          <a:xfrm>
            <a:off x="1032387" y="5373546"/>
            <a:ext cx="9896868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162A46"/>
                </a:solidFill>
              </a:defRPr>
            </a:pPr>
            <a:r>
              <a:rPr dirty="0"/>
              <a:t> Θ </a:t>
            </a:r>
            <a:r>
              <a:rPr dirty="0" err="1"/>
              <a:t>relie</a:t>
            </a:r>
            <a:r>
              <a:rPr dirty="0"/>
              <a:t> </a:t>
            </a:r>
            <a:r>
              <a:rPr dirty="0" err="1"/>
              <a:t>dépendance</a:t>
            </a:r>
            <a:r>
              <a:rPr dirty="0"/>
              <a:t> des </a:t>
            </a:r>
            <a:r>
              <a:rPr dirty="0" err="1"/>
              <a:t>extrêmes</a:t>
            </a:r>
            <a:r>
              <a:rPr dirty="0"/>
              <a:t>, </a:t>
            </a:r>
            <a:r>
              <a:rPr dirty="0" err="1"/>
              <a:t>propriétés</a:t>
            </a:r>
            <a:r>
              <a:rPr dirty="0"/>
              <a:t> du processus max-stable et diversification </a:t>
            </a:r>
            <a:r>
              <a:rPr dirty="0" err="1"/>
              <a:t>géographique</a:t>
            </a:r>
            <a:r>
              <a:rPr dirty="0"/>
              <a:t> du </a:t>
            </a:r>
            <a:r>
              <a:rPr dirty="0" err="1"/>
              <a:t>risque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706781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1842</TotalTime>
  <Words>192</Words>
  <Application>Microsoft Office PowerPoint</Application>
  <PresentationFormat>Grand écran</PresentationFormat>
  <Paragraphs>32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Thème Office</vt:lpstr>
      <vt:lpstr>Présentation PowerPoint</vt:lpstr>
      <vt:lpstr>Présentation PowerPoint</vt:lpstr>
      <vt:lpstr>Présentation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Anta Sarre</dc:creator>
  <cp:lastModifiedBy>Mbaye KEBE</cp:lastModifiedBy>
  <cp:revision>5</cp:revision>
  <dcterms:created xsi:type="dcterms:W3CDTF">2026-09-26T13:17:56Z</dcterms:created>
  <dcterms:modified xsi:type="dcterms:W3CDTF">2026-09-27T21:20:45Z</dcterms:modified>
</cp:coreProperties>
</file>