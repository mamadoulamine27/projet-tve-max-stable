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4731F-3821-431B-A539-6BD7AE6B6915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3F3EC-CB26-4D0C-8BFC-FED84A6526B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37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62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DACA-E00B-33AC-7E7B-CE41118A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F2740C-CED5-5AC1-33A4-4A668099F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2EC472-460B-FAE1-31BA-98873560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511B3-46DC-B04E-C7F8-33E524A3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51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EFCB1-918D-DEAF-AE7E-ED64D814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EEA0D-ADEB-8A94-3590-6250BE61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E3E80-49DF-76AB-31DD-9D3B5207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BF616-713A-375E-C3CA-F14DB6F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8CC21B-16F5-0690-5F13-AB2D6B5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79F62-5074-CE20-DD60-8DAB8A5E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42937-6BE1-A02C-4896-E63C7D09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331C5-5D37-F0C3-BD28-C7726A7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083B6-A8F3-B8F9-E4F9-63C27BCF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FA65E-A14F-6619-1EB9-676C2008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2360B-53AA-D8A6-B3D5-941A7DF6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208B8-3ADD-B4AC-48F1-7EA72A44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753FD6-1407-7968-2431-9450416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931D0-062F-BA78-3822-7DF377C7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75599-E9BA-2A73-CD80-C4A7561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87A14-750C-3643-E50A-976D67E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8D798-A927-C154-44A7-FD2F0B2B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82539-4AE5-E6B2-4556-4D41ED73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368B5-2D49-34BA-E88C-69ADDAD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A88AE-F581-78AD-87E7-C45BCB7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9F317-717D-F34B-230F-CB36028B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7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3464C-67EB-0AB5-5AB1-90099B6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A4B16-32EE-1418-147E-2EB6DA79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B78F9-2347-AB5F-B583-68738C45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E12FD-87B7-23BB-62CC-BFB18C99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789A33-5373-5731-CE35-7A49878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3A1896-D6EA-FE94-943B-CE02599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F605-2DB2-992D-01ED-EB27935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EB9A95-DC66-5B7B-9227-6C665AC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90B8-92B4-C2FB-5FEF-7E4D964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0ED54F-BE59-9B33-3FD9-4D6F3E0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C6AD3A-D8A2-ACEB-4850-2C8BE8B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B590C-AF75-73B9-DF2B-5812B4C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56A30E-6A63-3EE8-CD0E-1B269A2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9A556-2B29-C768-4AED-A24B205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AFA9D-E763-385D-1EF3-445C9318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8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217E6-CB9D-36DD-A085-93EF0A02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407AD-ECBD-499D-4AC1-BD799E9A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23337-5280-C293-02A3-90915D8F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9990C-72BB-C501-6CBE-C7642DDD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37D54-4456-307A-CBDB-2A1D8CDC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74DF0-08DE-F2F6-0EA3-548EF15C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10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A0B31-267A-C229-4A50-F845B5A3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6F6957-8A6B-04D3-4A72-7F0FE06C5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306EE-3FA0-A645-EA04-A0A9AC225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DFC83A-456C-B275-598E-975E655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249AA-4A45-7CF2-3E41-8DD6FAE8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BF866-2DFF-4866-E312-17965CE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EC614-62A8-15C4-D36B-D8C5EE0C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5BE313-825D-6D10-BF4D-23F5BBA3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711DB-032F-4292-05F4-6A7DFDC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F068A-E1A1-8BED-00CA-2C85CB1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D18E2-C649-B84E-C5D9-00E0F1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B72964-C026-39DC-E499-3FB196C6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E8720E-77DC-8214-5625-0B0AAC162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4F529-0462-80AB-B446-9DBF3BC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F0D82-5EF6-EB6F-4EE9-BD5AD72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62675-45D5-FBAA-E273-7817496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11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ABE3DA-FFF2-B42A-9844-46D2ABF0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9645C-5FDB-A3DE-4452-A96300DB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B8762-392B-20E4-FE4E-6A7323F1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51C2B-66C7-9A0B-70F1-9D4E39B5E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78766-72C3-A8AD-6F25-6838D94CD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888697-008B-7CF5-7C44-A0CFB875FF8F}"/>
              </a:ext>
            </a:extLst>
          </p:cNvPr>
          <p:cNvSpPr/>
          <p:nvPr/>
        </p:nvSpPr>
        <p:spPr>
          <a:xfrm>
            <a:off x="930728" y="587828"/>
            <a:ext cx="10330543" cy="1469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MESURES DE RISQUE SPATIALE ET PROCESSUS MAX STABLE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E003A2-E7A4-7BD7-339F-96DD57B2B38E}"/>
              </a:ext>
            </a:extLst>
          </p:cNvPr>
          <p:cNvSpPr txBox="1"/>
          <p:nvPr/>
        </p:nvSpPr>
        <p:spPr>
          <a:xfrm>
            <a:off x="3819932" y="3429000"/>
            <a:ext cx="394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ISUP – MASTER 2 ACTUARIAT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369230-3A33-CF4C-2A9D-2F83C5917D40}"/>
              </a:ext>
            </a:extLst>
          </p:cNvPr>
          <p:cNvSpPr txBox="1"/>
          <p:nvPr/>
        </p:nvSpPr>
        <p:spPr>
          <a:xfrm>
            <a:off x="2992618" y="2377161"/>
            <a:ext cx="68103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BEYE CHEIKH – KEBE MAMADOU LAMINE</a:t>
            </a:r>
          </a:p>
          <a:p>
            <a:r>
              <a:rPr lang="fr-FR" sz="2800" b="1" dirty="0"/>
              <a:t>KEBE MBAYE – SENE ABDOULAYE </a:t>
            </a:r>
          </a:p>
        </p:txBody>
      </p:sp>
      <p:pic>
        <p:nvPicPr>
          <p:cNvPr id="10" name="Image 9" descr="L'ESILV signe un accord de double diplôme Ingénieur Statisticien ...">
            <a:extLst>
              <a:ext uri="{FF2B5EF4-FFF2-40B4-BE49-F238E27FC236}">
                <a16:creationId xmlns:a16="http://schemas.microsoft.com/office/drawing/2014/main" id="{736C0712-8F47-712F-83DB-92FA041F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57" y="4811134"/>
            <a:ext cx="2302616" cy="1337687"/>
          </a:xfrm>
          <a:prstGeom prst="rect">
            <a:avLst/>
          </a:prstGeom>
        </p:spPr>
      </p:pic>
      <p:pic>
        <p:nvPicPr>
          <p:cNvPr id="11" name="Image 10" descr="Avis et témoignages sur Sorbonne Université - Capitaine Study">
            <a:extLst>
              <a:ext uri="{FF2B5EF4-FFF2-40B4-BE49-F238E27FC236}">
                <a16:creationId xmlns:a16="http://schemas.microsoft.com/office/drawing/2014/main" id="{BE687DC5-ECA9-6CE1-3DA6-5B48E3F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11134"/>
            <a:ext cx="2387697" cy="1555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2BF56E1-2BF0-DBE9-FC81-01C8E74F444D}"/>
              </a:ext>
            </a:extLst>
          </p:cNvPr>
          <p:cNvSpPr txBox="1"/>
          <p:nvPr/>
        </p:nvSpPr>
        <p:spPr>
          <a:xfrm>
            <a:off x="4667038" y="4067071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28 octobre 2026</a:t>
            </a:r>
          </a:p>
        </p:txBody>
      </p:sp>
    </p:spTree>
    <p:extLst>
      <p:ext uri="{BB962C8B-B14F-4D97-AF65-F5344CB8AC3E}">
        <p14:creationId xmlns:p14="http://schemas.microsoft.com/office/powerpoint/2010/main" val="11122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28E021-D238-606F-8283-384AF4A937D6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F642A-5FE3-94C8-02D6-CA935ED03C18}"/>
              </a:ext>
            </a:extLst>
          </p:cNvPr>
          <p:cNvSpPr/>
          <p:nvPr/>
        </p:nvSpPr>
        <p:spPr>
          <a:xfrm>
            <a:off x="620485" y="1665514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Evènement environnementaux extrêmes (canicules, ouragans, inondations…) : </a:t>
            </a:r>
          </a:p>
          <a:p>
            <a:r>
              <a:rPr lang="fr-FR" dirty="0">
                <a:solidFill>
                  <a:schemeClr val="tx1"/>
                </a:solidFill>
              </a:rPr>
              <a:t>des évènements qui touche une étendue géographique, pas un seul point isolé.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4736954-6508-E726-37BA-33030646B0D7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Aléa climatique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DF1FF2-4B51-7125-0618-054FCDD73A51}"/>
              </a:ext>
            </a:extLst>
          </p:cNvPr>
          <p:cNvSpPr/>
          <p:nvPr/>
        </p:nvSpPr>
        <p:spPr>
          <a:xfrm>
            <a:off x="620485" y="2896121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Décisions des autorités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9E99E-50FB-149D-B1DA-EC87A093C72C}"/>
              </a:ext>
            </a:extLst>
          </p:cNvPr>
          <p:cNvSpPr/>
          <p:nvPr/>
        </p:nvSpPr>
        <p:spPr>
          <a:xfrm>
            <a:off x="620485" y="3286835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Où est-il raisonnable de construire ?</a:t>
            </a:r>
          </a:p>
          <a:p>
            <a:r>
              <a:rPr lang="fr-FR" dirty="0">
                <a:solidFill>
                  <a:schemeClr val="tx1"/>
                </a:solidFill>
              </a:rPr>
              <a:t>Quelles zones classer à risque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960A2B-1F31-4D99-A990-82A33BDD1BFF}"/>
              </a:ext>
            </a:extLst>
          </p:cNvPr>
          <p:cNvSpPr/>
          <p:nvPr/>
        </p:nvSpPr>
        <p:spPr>
          <a:xfrm>
            <a:off x="620484" y="452897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Portefeuille d’assurance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E0BBC-94DF-CDA2-A069-72E8064AAD50}"/>
              </a:ext>
            </a:extLst>
          </p:cNvPr>
          <p:cNvSpPr/>
          <p:nvPr/>
        </p:nvSpPr>
        <p:spPr>
          <a:xfrm>
            <a:off x="620484" y="4909458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zone géographique de souscription determine directement l’exposition au risque.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ECBC-3B52-4B63-541D-D70BC51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19A28-2A6E-A4D7-5863-BB779C0A4588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Idée intuitive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appliquer une mesure de risque Π (variance,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VaR.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..)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chaque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point,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puis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moyenner sur la région A.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Problème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processus de coût est stationnaire 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Résultat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la mesure « spatiale » se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réduit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à la mesure d'un site unique — toute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l'information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dépendance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spatiale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disparaît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 t="-619" r="-531" b="-26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824B4D3-A8C0-EAB2-2810-BB09BA22E0E3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Approche naïve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3C4B7B1-B0C0-334C-FA24-768894C2B8F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35385-4EE7-1721-B96B-00A58CB439A1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–&gt; 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risque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8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4AD1-EED4-A8A8-4A53-E76CF213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83BAFA-FBC1-E48D-6F24-82C88BBB20CA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/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𝑪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fr-F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La perte agrégée normalisée est définie par : </a:t>
                </a:r>
                <a:r>
                  <a:rPr lang="en-US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Lₙ(A,P)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fPr>
                      <m:num>
                        <m: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𝟏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𝑨</m:t>
                            </m:r>
                          </m:e>
                        </m:d>
                      </m:den>
                    </m:f>
                  </m:oMath>
                </a14:m>
                <a:r>
                  <a:rPr lang="fr-FR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supHide m:val="on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𝑨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𝑷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sz="20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𝒙</m:t>
                        </m:r>
                      </m:e>
                    </m:nary>
                  </m:oMath>
                </a14:m>
                <a:endParaRPr lang="en-US" sz="2000" b="1" dirty="0">
                  <a:solidFill>
                    <a:srgbClr val="5B6B78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ADA16F-C3B6-C3D2-70CD-5A5D803F6E9C}"/>
              </a:ext>
            </a:extLst>
          </p:cNvPr>
          <p:cNvSpPr/>
          <p:nvPr/>
        </p:nvSpPr>
        <p:spPr>
          <a:xfrm>
            <a:off x="609598" y="1068359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1 : Perte agrégée normalisée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7BA26A1-A9D6-238E-6ED9-98BEE49E345D}"/>
              </a:ext>
            </a:extLst>
          </p:cNvPr>
          <p:cNvSpPr/>
          <p:nvPr/>
        </p:nvSpPr>
        <p:spPr>
          <a:xfrm>
            <a:off x="609598" y="3134567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2 : 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/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Cp.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La mesure de risque spatial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000" b="1" dirty="0">
                    <a:solidFill>
                      <a:schemeClr val="tx1"/>
                    </a:solidFill>
                  </a:rPr>
                  <a:t> </a:t>
                </a:r>
                <a:r>
                  <a:rPr lang="fr-FR" sz="2000" dirty="0">
                    <a:solidFill>
                      <a:schemeClr val="tx1"/>
                    </a:solidFill>
                  </a:rPr>
                  <a:t>est donnée par :  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fr-F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𝜫</m:t>
                      </m:r>
                      <m:d>
                        <m:dPr>
                          <m:ctrlPr>
                            <a:rPr lang="fr-FR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fr-FR" sz="20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blipFill>
                <a:blip r:embed="rId4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853FD590-48C0-ECB8-7686-3F7C07A77034}"/>
              </a:ext>
            </a:extLst>
          </p:cNvPr>
          <p:cNvSpPr txBox="1"/>
          <p:nvPr/>
        </p:nvSpPr>
        <p:spPr>
          <a:xfrm>
            <a:off x="609598" y="5593698"/>
            <a:ext cx="11573618" cy="1179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|A|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donne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« par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surface » (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police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d'assurance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la variance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Lₙ(A,P)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capturent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spatiale de Cₚ.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294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9F5F-F41F-3E5B-3367-65838A222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39110-6803-B194-B22F-A79BA9634C4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47EDF-0B3F-E76C-82D1-1C482CF075FF}"/>
              </a:ext>
            </a:extLst>
          </p:cNvPr>
          <p:cNvSpPr/>
          <p:nvPr/>
        </p:nvSpPr>
        <p:spPr>
          <a:xfrm>
            <a:off x="609598" y="1448839"/>
            <a:ext cx="10308771" cy="4941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5B6B78"/>
              </a:solidFill>
              <a:latin typeface="Cambria Math" pitchFamily="34" charset="0"/>
              <a:ea typeface="Cambria Math" pitchFamily="34" charset="-122"/>
              <a:cs typeface="Cambria Math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/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2400" dirty="0"/>
                  <a:t>Trois axiomes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400" dirty="0"/>
                  <a:t>(.,P):</a:t>
                </a:r>
              </a:p>
            </p:txBody>
          </p:sp>
        </mc:Choice>
        <mc:Fallback xmlns="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  <a:blipFill>
                <a:blip r:embed="rId3"/>
                <a:stretch>
                  <a:fillRect l="-649" t="-19697" b="-4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6292000-D8D4-E90B-0654-2F92FD0862A2}"/>
              </a:ext>
            </a:extLst>
          </p:cNvPr>
          <p:cNvSpPr/>
          <p:nvPr/>
        </p:nvSpPr>
        <p:spPr>
          <a:xfrm>
            <a:off x="849086" y="1741728"/>
            <a:ext cx="8697682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Invariance par translation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/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dirty="0">
                    <a:solidFill>
                      <a:schemeClr val="tx1"/>
                    </a:solidFill>
                  </a:rPr>
                  <a:t>Soit </a:t>
                </a: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(A+ </a:t>
                </a:r>
                <a14:m>
                  <m:oMath xmlns:m="http://schemas.openxmlformats.org/officeDocument/2006/math">
                    <m:r>
                      <a:rPr lang="fr-F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,P)=</a:t>
                </a:r>
                <a:r>
                  <a:rPr lang="fr-FR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(A,P).</a:t>
                </a:r>
              </a:p>
              <a:p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Déplacer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ne change pas le risque.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blipFill>
                <a:blip r:embed="rId4"/>
                <a:stretch>
                  <a:fillRect l="-490" b="-48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9D545FC-71F5-6EE2-6C4E-C091610AAD19}"/>
              </a:ext>
            </a:extLst>
          </p:cNvPr>
          <p:cNvSpPr/>
          <p:nvPr/>
        </p:nvSpPr>
        <p:spPr>
          <a:xfrm>
            <a:off x="849085" y="3057851"/>
            <a:ext cx="8697684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Sous-additivité spatiale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/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(A₁∪A₂,P) ≤ 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(A₁,P),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(A₂,P)}.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Diversification</a:t>
                </a:r>
                <a:r>
                  <a:rPr lang="en-US" dirty="0">
                    <a:solidFill>
                      <a:srgbClr val="5B6B7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réunir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deux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régions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peut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qu'améliorer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maintenir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le risque.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blipFill>
                <a:blip r:embed="rId5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720D0D-4DFE-B744-AC50-CC3FC6A22B7B}"/>
              </a:ext>
            </a:extLst>
          </p:cNvPr>
          <p:cNvSpPr/>
          <p:nvPr/>
        </p:nvSpPr>
        <p:spPr>
          <a:xfrm>
            <a:off x="849084" y="4782976"/>
            <a:ext cx="8697686" cy="38048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Homogénéité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asymptotique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d'ordre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−α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/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A,P)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den>
                    </m:f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lorsque</m:t>
                    </m:r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Décrit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vitesse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convergence du risque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quand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s'agrandit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(λ → ∞).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blipFill>
                <a:blip r:embed="rId6"/>
                <a:stretch>
                  <a:fillRect l="-490" b="-51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24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03EA-4ED2-FD89-3C2B-03C94134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E8A7A1-62B0-511F-6158-1128DE6CBFA4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E02D4-64B8-E9AA-318A-57D69EAADC2C}"/>
              </a:ext>
            </a:extLst>
          </p:cNvPr>
          <p:cNvSpPr/>
          <p:nvPr/>
        </p:nvSpPr>
        <p:spPr>
          <a:xfrm>
            <a:off x="620485" y="1665513"/>
            <a:ext cx="10308771" cy="35487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r>
              <a:rPr lang="en-US" sz="36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Cₚ(x) = E(x) · D( Z(x) )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E(x)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exposition;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function de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dommage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aléa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environnementaux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1E20970-1556-B15C-0A10-A20E94BF6981}"/>
              </a:ext>
            </a:extLst>
          </p:cNvPr>
          <p:cNvSpPr/>
          <p:nvPr/>
        </p:nvSpPr>
        <p:spPr>
          <a:xfrm>
            <a:off x="620485" y="1208314"/>
            <a:ext cx="10308771" cy="44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Modèle général du processus de coût</a:t>
            </a:r>
          </a:p>
        </p:txBody>
      </p:sp>
    </p:spTree>
    <p:extLst>
      <p:ext uri="{BB962C8B-B14F-4D97-AF65-F5344CB8AC3E}">
        <p14:creationId xmlns:p14="http://schemas.microsoft.com/office/powerpoint/2010/main" val="253761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LA PERTE SPATIALE ET SA VALUE-AT-RISK</a:t>
            </a:r>
          </a:p>
        </p:txBody>
      </p:sp>
      <p:sp>
        <p:nvSpPr>
          <p:cNvPr id="10" name="Bandeau 1"/>
          <p:cNvSpPr/>
          <p:nvPr/>
        </p:nvSpPr>
        <p:spPr>
          <a:xfrm>
            <a:off x="620485" y="968091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Perte spatiale agrégée normalisée (éq. 8)</a:t>
            </a:r>
          </a:p>
        </p:txBody>
      </p:sp>
      <p:pic>
        <p:nvPicPr>
          <p:cNvPr id="11" name="eq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1708449"/>
            <a:ext cx="4007978" cy="699393"/>
          </a:xfrm>
          <a:prstGeom prst="rect">
            <a:avLst/>
          </a:prstGeom>
        </p:spPr>
      </p:pic>
      <p:sp>
        <p:nvSpPr>
          <p:cNvPr id="12" name="interp1"/>
          <p:cNvSpPr txBox="1"/>
          <p:nvPr/>
        </p:nvSpPr>
        <p:spPr>
          <a:xfrm>
            <a:off x="620485" y="2587842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|A| = aire de A  →  proportion de A où le seuil u est dépassé</a:t>
            </a:r>
          </a:p>
        </p:txBody>
      </p:sp>
      <p:sp>
        <p:nvSpPr>
          <p:cNvPr id="13" name="Bandeau 2"/>
          <p:cNvSpPr/>
          <p:nvPr/>
        </p:nvSpPr>
        <p:spPr>
          <a:xfrm>
            <a:off x="620485" y="3227842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VaR spatiale (Def. 1–3, §4.3)</a:t>
            </a:r>
          </a:p>
        </p:txBody>
      </p:sp>
      <p:pic>
        <p:nvPicPr>
          <p:cNvPr id="14" name="eq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5" y="3777842"/>
            <a:ext cx="5800000" cy="367175"/>
          </a:xfrm>
          <a:prstGeom prst="rect">
            <a:avLst/>
          </a:prstGeom>
        </p:spPr>
      </p:pic>
      <p:sp>
        <p:nvSpPr>
          <p:cNvPr id="15" name="convention"/>
          <p:cNvSpPr txBox="1"/>
          <p:nvPr/>
        </p:nvSpPr>
        <p:spPr>
          <a:xfrm>
            <a:off x="620485" y="4325017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i="1" dirty="0">
                <a:solidFill>
                  <a:srgbClr val="5B6472"/>
                </a:solidFill>
                <a:latin typeface="Calibri"/>
              </a:rPr>
              <a:t>Convention : α = niveau de confiance</a:t>
            </a:r>
          </a:p>
        </p:txBody>
      </p:sp>
      <p:sp>
        <p:nvSpPr>
          <p:cNvPr id="16" name="lien_cours"/>
          <p:cNvSpPr txBox="1"/>
          <p:nvPr/>
        </p:nvSpPr>
        <p:spPr>
          <a:xfrm>
            <a:off x="620485" y="5025017"/>
            <a:ext cx="61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Lien cours : la VaR est un quantile ⇒ estimateur naturel = quantile empirique (statistique d'ordre)</a:t>
            </a:r>
          </a:p>
        </p:txBody>
      </p:sp>
      <p:pic>
        <p:nvPicPr>
          <p:cNvPr id="20" name="visue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485" y="1351116"/>
            <a:ext cx="3678771" cy="41534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ESTIMER LA VAR SPATIALE : UNE MÉTHODE MONTE CARLO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intro"/>
              <p:cNvSpPr txBox="1"/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Pas de formule fermée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à λ fini (4.3.1)</a:t>
                </a:r>
              </a:p>
            </p:txBody>
          </p:sp>
        </mc:Choice>
        <mc:Fallback>
          <p:sp>
            <p:nvSpPr>
              <p:cNvPr id="10" name="intr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blipFill>
                <a:blip r:embed="rId2"/>
                <a:stretch>
                  <a:fillRect l="-1419" t="-2153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Bandeau methode"/>
          <p:cNvSpPr/>
          <p:nvPr/>
        </p:nvSpPr>
        <p:spPr>
          <a:xfrm>
            <a:off x="620485" y="1648091"/>
            <a:ext cx="10308771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Méthode en 4 étapes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tep1"/>
              <p:cNvSpPr txBox="1"/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1. Simuler Z sur une grille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1B2430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ste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blipFill>
                <a:blip r:embed="rId3"/>
                <a:stretch>
                  <a:fillRect l="-5868" t="-15854" r="-195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tep2"/>
              <p:cNvSpPr txBox="1"/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2. Approcher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) par une somme de Riemann</a:t>
                </a:r>
              </a:p>
            </p:txBody>
          </p:sp>
        </mc:Choice>
        <mc:Fallback>
          <p:sp>
            <p:nvSpPr>
              <p:cNvPr id="13" name="step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blipFill>
                <a:blip r:embed="rId4"/>
                <a:stretch>
                  <a:fillRect l="-5868" t="-15854" r="-978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3"/>
          <p:cNvSpPr txBox="1"/>
          <p:nvPr/>
        </p:nvSpPr>
        <p:spPr>
          <a:xfrm>
            <a:off x="5985326" y="2487907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3. Répéter S fois (Monte Carlo)</a:t>
            </a:r>
          </a:p>
        </p:txBody>
      </p:sp>
      <p:sp>
        <p:nvSpPr>
          <p:cNvPr id="15" name="step4"/>
          <p:cNvSpPr txBox="1"/>
          <p:nvPr/>
        </p:nvSpPr>
        <p:spPr>
          <a:xfrm>
            <a:off x="8772975" y="2484925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4. Quantile empirique d'ordre α</a:t>
            </a:r>
          </a:p>
        </p:txBody>
      </p:sp>
      <p:pic>
        <p:nvPicPr>
          <p:cNvPr id="20" name="visue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" y="3038091"/>
            <a:ext cx="10308771" cy="2577193"/>
          </a:xfrm>
          <a:prstGeom prst="rect">
            <a:avLst/>
          </a:prstGeom>
        </p:spPr>
      </p:pic>
      <p:sp>
        <p:nvSpPr>
          <p:cNvPr id="21" name="illustration"/>
          <p:cNvSpPr txBox="1"/>
          <p:nvPr/>
        </p:nvSpPr>
        <p:spPr>
          <a:xfrm>
            <a:off x="620485" y="5765284"/>
            <a:ext cx="10308771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Illustration (Fig. 6) : Smith, α = 0,9, A carré côté 1, M = 49, S = 10 000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DIVERSIFICATION SPATIALE : LE RÉSULTAT ASYMPTOTIQUE</a:t>
            </a:r>
          </a:p>
        </p:txBody>
      </p:sp>
      <p:sp>
        <p:nvSpPr>
          <p:cNvPr id="10" name="Bandeau theoreme"/>
          <p:cNvSpPr/>
          <p:nvPr/>
        </p:nvSpPr>
        <p:spPr>
          <a:xfrm>
            <a:off x="620485" y="938091"/>
            <a:ext cx="6350000" cy="6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Théorème 5 (pt. 2) — sous les hypothèses du théorème 4</a:t>
            </a:r>
          </a:p>
        </p:txBody>
      </p:sp>
      <p:pic>
        <p:nvPicPr>
          <p:cNvPr id="11" name="eq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2087919"/>
            <a:ext cx="5058420" cy="7133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efs"/>
              <p:cNvSpPr txBox="1"/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 = 1 − </m:t>
                    </m:r>
                    <m:r>
                      <m:rPr>
                        <m:sty m:val="p"/>
                      </m:rP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 dirty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;  σ = écart-type asymptotique (Th. 4)  ;  </a:t>
                </a:r>
              </a:p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qα = quantile d'ordre α de N(0,1)</a:t>
                </a:r>
              </a:p>
            </p:txBody>
          </p:sp>
        </mc:Choice>
        <mc:Fallback>
          <p:sp>
            <p:nvSpPr>
              <p:cNvPr id="12" name="def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blipFill>
                <a:blip r:embed="rId3"/>
                <a:stretch>
                  <a:fillRect l="-2305" t="-2941" b="-30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interp"/>
              <p:cNvSpPr txBox="1"/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Pour α &gt; 0,5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: le terme correctif tend vers 0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converge vers m par valeurs supérieures (diversification spatiale)</a:t>
                </a:r>
              </a:p>
            </p:txBody>
          </p:sp>
        </mc:Choice>
        <mc:Fallback>
          <p:sp>
            <p:nvSpPr>
              <p:cNvPr id="13" name="inter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blipFill>
                <a:blip r:embed="rId4"/>
                <a:stretch>
                  <a:fillRect l="-2305" t="-8974" r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en_cours2"/>
          <p:cNvSpPr txBox="1"/>
          <p:nvPr/>
        </p:nvSpPr>
        <p:spPr>
          <a:xfrm>
            <a:off x="620485" y="4880081"/>
            <a:ext cx="6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5B6472"/>
                </a:solidFill>
                <a:latin typeface="Calibri"/>
              </a:rPr>
              <a:t>Lien cours : ce résultat repose sur un TCL lié au mélange du champ de coût ; les processus max-stables prolongent l'EVT au cadre spatial</a:t>
            </a:r>
          </a:p>
        </p:txBody>
      </p:sp>
      <p:pic>
        <p:nvPicPr>
          <p:cNvPr id="20" name="figure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485" y="1718091"/>
            <a:ext cx="4125801" cy="2701990"/>
          </a:xfrm>
          <a:prstGeom prst="rect">
            <a:avLst/>
          </a:prstGeom>
        </p:spPr>
      </p:pic>
      <p:sp>
        <p:nvSpPr>
          <p:cNvPr id="21" name="source"/>
          <p:cNvSpPr txBox="1"/>
          <p:nvPr/>
        </p:nvSpPr>
        <p:spPr>
          <a:xfrm>
            <a:off x="7340485" y="4420081"/>
            <a:ext cx="3698771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fr-FR" sz="1200" i="1" dirty="0">
                <a:solidFill>
                  <a:srgbClr val="5B6472"/>
                </a:solidFill>
                <a:latin typeface="Calibri"/>
              </a:rPr>
              <a:t>R3,0.9(λA), Smith, A carré côté 1, Source : Koch (2015), Fig.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Words>752</Words>
  <Application>Microsoft Office PowerPoint</Application>
  <PresentationFormat>Widescreen</PresentationFormat>
  <Paragraphs>72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</vt:lpstr>
      <vt:lpstr>Cambria Math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 Sarre</dc:creator>
  <cp:lastModifiedBy>Waly SENE</cp:lastModifiedBy>
  <cp:revision>5</cp:revision>
  <dcterms:created xsi:type="dcterms:W3CDTF">2026-09-26T13:17:56Z</dcterms:created>
  <dcterms:modified xsi:type="dcterms:W3CDTF">2026-09-27T20:52:23Z</dcterms:modified>
</cp:coreProperties>
</file>