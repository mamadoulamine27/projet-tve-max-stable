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4731F-3821-431B-A539-6BD7AE6B6915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F3EC-CB26-4D0C-8BFC-FED84A6526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37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62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DACA-E00B-33AC-7E7B-CE41118A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F2740C-CED5-5AC1-33A4-4A668099F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2EC472-460B-FAE1-31BA-98873560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511B3-46DC-B04E-C7F8-33E524A3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1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68103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– KEBE MAMADOU LAMINE</a:t>
            </a:r>
          </a:p>
          <a:p>
            <a:r>
              <a:rPr lang="fr-FR" sz="2800" b="1" dirty="0"/>
              <a:t>KEBE MBAYE –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–&gt; 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4AD1-EED4-A8A8-4A53-E76CF213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83BAFA-FBC1-E48D-6F24-82C88BBB20CA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/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𝑪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fr-F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La perte agrégée normalisée est définie par : </a:t>
                </a:r>
                <a:r>
                  <a:rPr lang="en-US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Lₙ(A,P)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fPr>
                      <m:num>
                        <m: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𝟏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𝑨</m:t>
                            </m:r>
                          </m:e>
                        </m:d>
                      </m:den>
                    </m:f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supHide m:val="on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𝑨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𝑷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sz="20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𝒙</m:t>
                        </m:r>
                      </m:e>
                    </m:nary>
                  </m:oMath>
                </a14:m>
                <a:endParaRPr lang="en-US" sz="2000" b="1" dirty="0">
                  <a:solidFill>
                    <a:srgbClr val="5B6B78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ADA16F-C3B6-C3D2-70CD-5A5D803F6E9C}"/>
              </a:ext>
            </a:extLst>
          </p:cNvPr>
          <p:cNvSpPr/>
          <p:nvPr/>
        </p:nvSpPr>
        <p:spPr>
          <a:xfrm>
            <a:off x="609598" y="1068359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1 : Perte agrégée normalisée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7BA26A1-A9D6-238E-6ED9-98BEE49E345D}"/>
              </a:ext>
            </a:extLst>
          </p:cNvPr>
          <p:cNvSpPr/>
          <p:nvPr/>
        </p:nvSpPr>
        <p:spPr>
          <a:xfrm>
            <a:off x="609598" y="3134567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2 : 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/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Cp.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La mesure de risque spatial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000" b="1" dirty="0">
                    <a:solidFill>
                      <a:schemeClr val="tx1"/>
                    </a:solidFill>
                  </a:rPr>
                  <a:t> </a:t>
                </a:r>
                <a:r>
                  <a:rPr lang="fr-FR" sz="2000" dirty="0">
                    <a:solidFill>
                      <a:schemeClr val="tx1"/>
                    </a:solidFill>
                  </a:rPr>
                  <a:t>est donnée par :  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fr-F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𝜫</m:t>
                      </m:r>
                      <m:d>
                        <m:dPr>
                          <m:ctrlPr>
                            <a:rPr lang="fr-FR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fr-FR" sz="20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blipFill>
                <a:blip r:embed="rId4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853FD590-48C0-ECB8-7686-3F7C07A77034}"/>
              </a:ext>
            </a:extLst>
          </p:cNvPr>
          <p:cNvSpPr txBox="1"/>
          <p:nvPr/>
        </p:nvSpPr>
        <p:spPr>
          <a:xfrm>
            <a:off x="609598" y="5593698"/>
            <a:ext cx="11573618" cy="1179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|A|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donne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« par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surface » (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police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d'assurance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la variance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Lₙ(A,P)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capturent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spatiale de Cₚ.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94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9F5F-F41F-3E5B-3367-65838A222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39110-6803-B194-B22F-A79BA9634C4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47EDF-0B3F-E76C-82D1-1C482CF075FF}"/>
              </a:ext>
            </a:extLst>
          </p:cNvPr>
          <p:cNvSpPr/>
          <p:nvPr/>
        </p:nvSpPr>
        <p:spPr>
          <a:xfrm>
            <a:off x="609598" y="1448839"/>
            <a:ext cx="10308771" cy="4941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5B6B78"/>
              </a:solidFill>
              <a:latin typeface="Cambria Math" pitchFamily="34" charset="0"/>
              <a:ea typeface="Cambria Math" pitchFamily="34" charset="-122"/>
              <a:cs typeface="Cambria Math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/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2400" dirty="0"/>
                  <a:t>Trois axiomes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400" dirty="0"/>
                  <a:t>(.,P):</a:t>
                </a: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  <a:blipFill>
                <a:blip r:embed="rId3"/>
                <a:stretch>
                  <a:fillRect l="-649" t="-19697" b="-4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6292000-D8D4-E90B-0654-2F92FD0862A2}"/>
              </a:ext>
            </a:extLst>
          </p:cNvPr>
          <p:cNvSpPr/>
          <p:nvPr/>
        </p:nvSpPr>
        <p:spPr>
          <a:xfrm>
            <a:off x="849086" y="1741728"/>
            <a:ext cx="8697682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Invariance par translation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/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dirty="0">
                    <a:solidFill>
                      <a:schemeClr val="tx1"/>
                    </a:solidFill>
                  </a:rPr>
                  <a:t>Soit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(A+ </a:t>
                </a:r>
                <a14:m>
                  <m:oMath xmlns:m="http://schemas.openxmlformats.org/officeDocument/2006/math">
                    <m:r>
                      <a:rPr lang="fr-F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,P)=</a:t>
                </a:r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(A,P).</a:t>
                </a:r>
              </a:p>
              <a:p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Déplacer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ne change pas le risque.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blipFill>
                <a:blip r:embed="rId4"/>
                <a:stretch>
                  <a:fillRect l="-490" b="-48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9D545FC-71F5-6EE2-6C4E-C091610AAD19}"/>
              </a:ext>
            </a:extLst>
          </p:cNvPr>
          <p:cNvSpPr/>
          <p:nvPr/>
        </p:nvSpPr>
        <p:spPr>
          <a:xfrm>
            <a:off x="849085" y="3057851"/>
            <a:ext cx="8697684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Sous-additivité spatiale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/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(A₁∪A₂,P) ≤ 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(A₁,P),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(A₂,P)}.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Diversification</a:t>
                </a:r>
                <a:r>
                  <a:rPr lang="en-US" dirty="0">
                    <a:solidFill>
                      <a:srgbClr val="5B6B7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réunir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deux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régions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peut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qu'améliorer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maintenir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le risque.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blipFill>
                <a:blip r:embed="rId5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720D0D-4DFE-B744-AC50-CC3FC6A22B7B}"/>
              </a:ext>
            </a:extLst>
          </p:cNvPr>
          <p:cNvSpPr/>
          <p:nvPr/>
        </p:nvSpPr>
        <p:spPr>
          <a:xfrm>
            <a:off x="849084" y="4782976"/>
            <a:ext cx="8697686" cy="38048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Homogénéité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asymptotique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d'ordre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−α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/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A,P)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lorsque</m:t>
                    </m:r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Décrit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vitesse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convergence du risque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quand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s'agrandit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(λ → ∞).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blipFill>
                <a:blip r:embed="rId6"/>
                <a:stretch>
                  <a:fillRect l="-490" b="-5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24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03EA-4ED2-FD89-3C2B-03C94134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E8A7A1-62B0-511F-6158-1128DE6CBFA4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02D4-64B8-E9AA-318A-57D69EAADC2C}"/>
              </a:ext>
            </a:extLst>
          </p:cNvPr>
          <p:cNvSpPr/>
          <p:nvPr/>
        </p:nvSpPr>
        <p:spPr>
          <a:xfrm>
            <a:off x="620485" y="1665513"/>
            <a:ext cx="10308771" cy="35487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r>
              <a:rPr lang="en-US" sz="36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Cₚ(x) = E(x) · D( Z(x) )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E(x)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exposition;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function de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dommage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aléa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environnementaux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1E20970-1556-B15C-0A10-A20E94BF6981}"/>
              </a:ext>
            </a:extLst>
          </p:cNvPr>
          <p:cNvSpPr/>
          <p:nvPr/>
        </p:nvSpPr>
        <p:spPr>
          <a:xfrm>
            <a:off x="620485" y="1208314"/>
            <a:ext cx="10308771" cy="44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Modèle général du processus de coût</a:t>
            </a:r>
          </a:p>
        </p:txBody>
      </p:sp>
    </p:spTree>
    <p:extLst>
      <p:ext uri="{BB962C8B-B14F-4D97-AF65-F5344CB8AC3E}">
        <p14:creationId xmlns:p14="http://schemas.microsoft.com/office/powerpoint/2010/main" val="253761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LA PERTE SPATIALE ET SA VALUE-AT-RISK</a:t>
            </a:r>
          </a:p>
        </p:txBody>
      </p:sp>
      <p:sp>
        <p:nvSpPr>
          <p:cNvPr id="10" name="Bandeau 1"/>
          <p:cNvSpPr/>
          <p:nvPr/>
        </p:nvSpPr>
        <p:spPr>
          <a:xfrm>
            <a:off x="620485" y="968091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Perte spatiale agrégée normalisée (éq. 8)</a:t>
            </a:r>
          </a:p>
        </p:txBody>
      </p:sp>
      <p:pic>
        <p:nvPicPr>
          <p:cNvPr id="11" name="eq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1708449"/>
            <a:ext cx="4007978" cy="699393"/>
          </a:xfrm>
          <a:prstGeom prst="rect">
            <a:avLst/>
          </a:prstGeom>
        </p:spPr>
      </p:pic>
      <p:sp>
        <p:nvSpPr>
          <p:cNvPr id="12" name="interp1"/>
          <p:cNvSpPr txBox="1"/>
          <p:nvPr/>
        </p:nvSpPr>
        <p:spPr>
          <a:xfrm>
            <a:off x="620485" y="2587842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|A| = aire de A  →  proportion de A où le seuil u est dépassé</a:t>
            </a:r>
          </a:p>
        </p:txBody>
      </p:sp>
      <p:sp>
        <p:nvSpPr>
          <p:cNvPr id="13" name="Bandeau 2"/>
          <p:cNvSpPr/>
          <p:nvPr/>
        </p:nvSpPr>
        <p:spPr>
          <a:xfrm>
            <a:off x="620485" y="3227842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VaR spatiale (Def. 1–3, §4.3)</a:t>
            </a:r>
          </a:p>
        </p:txBody>
      </p:sp>
      <p:pic>
        <p:nvPicPr>
          <p:cNvPr id="14" name="eq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5" y="3777842"/>
            <a:ext cx="5800000" cy="367175"/>
          </a:xfrm>
          <a:prstGeom prst="rect">
            <a:avLst/>
          </a:prstGeom>
        </p:spPr>
      </p:pic>
      <p:sp>
        <p:nvSpPr>
          <p:cNvPr id="15" name="convention"/>
          <p:cNvSpPr txBox="1"/>
          <p:nvPr/>
        </p:nvSpPr>
        <p:spPr>
          <a:xfrm>
            <a:off x="620485" y="4325017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i="1" dirty="0">
                <a:solidFill>
                  <a:srgbClr val="5B6472"/>
                </a:solidFill>
                <a:latin typeface="Calibri"/>
              </a:rPr>
              <a:t>Convention : α = niveau de confiance</a:t>
            </a:r>
          </a:p>
        </p:txBody>
      </p:sp>
      <p:sp>
        <p:nvSpPr>
          <p:cNvPr id="16" name="lien_cours"/>
          <p:cNvSpPr txBox="1"/>
          <p:nvPr/>
        </p:nvSpPr>
        <p:spPr>
          <a:xfrm>
            <a:off x="620485" y="5025017"/>
            <a:ext cx="61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Lien cours : la VaR est un quantile ⇒ estimateur naturel = quantile empirique (statistique d'ordre)</a:t>
            </a:r>
          </a:p>
        </p:txBody>
      </p:sp>
      <p:pic>
        <p:nvPicPr>
          <p:cNvPr id="20" name="visue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485" y="1351116"/>
            <a:ext cx="3678771" cy="4153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ESTIMER LA VAR SPATIALE : UNE MÉTHODE MONTE CARLO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tro"/>
              <p:cNvSpPr txBox="1"/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Pas de formule fermée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à λ fini (4.3.1)</a:t>
                </a:r>
              </a:p>
            </p:txBody>
          </p:sp>
        </mc:Choice>
        <mc:Fallback xmlns="">
          <p:sp>
            <p:nvSpPr>
              <p:cNvPr id="10" name="intr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blipFill>
                <a:blip r:embed="rId2"/>
                <a:stretch>
                  <a:fillRect l="-1419" t="-2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andeau methode"/>
          <p:cNvSpPr/>
          <p:nvPr/>
        </p:nvSpPr>
        <p:spPr>
          <a:xfrm>
            <a:off x="620485" y="1648091"/>
            <a:ext cx="10308771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Méthode en 4 étapes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tep1"/>
              <p:cNvSpPr txBox="1"/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1. Simuler Z sur une grille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1B2430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ste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blipFill>
                <a:blip r:embed="rId3"/>
                <a:stretch>
                  <a:fillRect l="-5868" t="-15854" r="-195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tep2"/>
              <p:cNvSpPr txBox="1"/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2. Approcher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) par une somme de Riemann</a:t>
                </a:r>
              </a:p>
            </p:txBody>
          </p:sp>
        </mc:Choice>
        <mc:Fallback xmlns="">
          <p:sp>
            <p:nvSpPr>
              <p:cNvPr id="13" name="step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blipFill>
                <a:blip r:embed="rId4"/>
                <a:stretch>
                  <a:fillRect l="-5868" t="-15854" r="-978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3"/>
          <p:cNvSpPr txBox="1"/>
          <p:nvPr/>
        </p:nvSpPr>
        <p:spPr>
          <a:xfrm>
            <a:off x="5985326" y="2487907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3. Répéter S fois (Monte Carlo)</a:t>
            </a:r>
          </a:p>
        </p:txBody>
      </p:sp>
      <p:sp>
        <p:nvSpPr>
          <p:cNvPr id="15" name="step4"/>
          <p:cNvSpPr txBox="1"/>
          <p:nvPr/>
        </p:nvSpPr>
        <p:spPr>
          <a:xfrm>
            <a:off x="8772975" y="2484925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4. Quantile empirique d'ordre α</a:t>
            </a:r>
          </a:p>
        </p:txBody>
      </p:sp>
      <p:pic>
        <p:nvPicPr>
          <p:cNvPr id="20" name="visue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" y="3038091"/>
            <a:ext cx="10308771" cy="2577193"/>
          </a:xfrm>
          <a:prstGeom prst="rect">
            <a:avLst/>
          </a:prstGeom>
        </p:spPr>
      </p:pic>
      <p:sp>
        <p:nvSpPr>
          <p:cNvPr id="21" name="illustration"/>
          <p:cNvSpPr txBox="1"/>
          <p:nvPr/>
        </p:nvSpPr>
        <p:spPr>
          <a:xfrm>
            <a:off x="620485" y="5765284"/>
            <a:ext cx="10308771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Illustration (Fig. 6) : Smith, α = 0,9, A carré côté 1, M = 49, S = 10 000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DIVERSIFICATION SPATIALE : LE RÉSULTAT ASYMPTOTIQUE</a:t>
            </a:r>
          </a:p>
        </p:txBody>
      </p:sp>
      <p:sp>
        <p:nvSpPr>
          <p:cNvPr id="10" name="Bandeau theoreme"/>
          <p:cNvSpPr/>
          <p:nvPr/>
        </p:nvSpPr>
        <p:spPr>
          <a:xfrm>
            <a:off x="620485" y="938091"/>
            <a:ext cx="6350000" cy="6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Théorème 5 (pt. 2) — sous les hypothèses du théorème 4</a:t>
            </a:r>
          </a:p>
        </p:txBody>
      </p:sp>
      <p:pic>
        <p:nvPicPr>
          <p:cNvPr id="11" name="eq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2087919"/>
            <a:ext cx="5058420" cy="71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efs"/>
              <p:cNvSpPr txBox="1"/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 = 1 − </m:t>
                    </m:r>
                    <m:r>
                      <m:rPr>
                        <m:sty m:val="p"/>
                      </m:rP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 dirty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;  σ = écart-type asymptotique (Th. 4)  ;  </a:t>
                </a:r>
              </a:p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qα = quantile d'ordre α de N(0,1)</a:t>
                </a:r>
              </a:p>
            </p:txBody>
          </p:sp>
        </mc:Choice>
        <mc:Fallback xmlns="">
          <p:sp>
            <p:nvSpPr>
              <p:cNvPr id="12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blipFill>
                <a:blip r:embed="rId3"/>
                <a:stretch>
                  <a:fillRect l="-2305" t="-2941" b="-30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nterp"/>
              <p:cNvSpPr txBox="1"/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Pour α &gt; 0,5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: le terme correctif tend vers 0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converge vers m par valeurs supérieures (diversification spatiale)</a:t>
                </a:r>
              </a:p>
            </p:txBody>
          </p:sp>
        </mc:Choice>
        <mc:Fallback xmlns="">
          <p:sp>
            <p:nvSpPr>
              <p:cNvPr id="13" name="inter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blipFill>
                <a:blip r:embed="rId4"/>
                <a:stretch>
                  <a:fillRect l="-2305" t="-8974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en_cours2"/>
          <p:cNvSpPr txBox="1"/>
          <p:nvPr/>
        </p:nvSpPr>
        <p:spPr>
          <a:xfrm>
            <a:off x="620485" y="4880081"/>
            <a:ext cx="6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5B6472"/>
                </a:solidFill>
                <a:latin typeface="Calibri"/>
              </a:rPr>
              <a:t>Lien cours : ce résultat repose sur un TCL lié au mélange du champ de coût ; les processus max-stables prolongent l'EVT au cadre spatial</a:t>
            </a:r>
          </a:p>
        </p:txBody>
      </p:sp>
      <p:pic>
        <p:nvPicPr>
          <p:cNvPr id="20" name="figure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485" y="1718091"/>
            <a:ext cx="4125801" cy="2701990"/>
          </a:xfrm>
          <a:prstGeom prst="rect">
            <a:avLst/>
          </a:prstGeom>
        </p:spPr>
      </p:pic>
      <p:sp>
        <p:nvSpPr>
          <p:cNvPr id="21" name="source"/>
          <p:cNvSpPr txBox="1"/>
          <p:nvPr/>
        </p:nvSpPr>
        <p:spPr>
          <a:xfrm>
            <a:off x="7340485" y="4420081"/>
            <a:ext cx="3698771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fr-FR" sz="1200" i="1" dirty="0">
                <a:solidFill>
                  <a:srgbClr val="5B6472"/>
                </a:solidFill>
                <a:latin typeface="Calibri"/>
              </a:rPr>
              <a:t>R3,0.9(λA), Smith, A carré côté 1, Source : Koch (2015), Fig.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A7D6-6AF8-BA04-8D8D-8A03CFB0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07869-8A3B-E19E-E10E-9A9C619038C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DABE4-926D-3C75-9EDA-C41FEFD6F519}"/>
              </a:ext>
            </a:extLst>
          </p:cNvPr>
          <p:cNvSpPr/>
          <p:nvPr/>
        </p:nvSpPr>
        <p:spPr>
          <a:xfrm>
            <a:off x="620485" y="1584132"/>
            <a:ext cx="10308771" cy="3205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</a:t>
            </a:r>
            <a:r>
              <a:rPr lang="en-US" sz="24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localisations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processus max-stable simple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 parfait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intermédiare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extreme</a:t>
            </a: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extremes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3AAD72-73F4-AD71-831D-645A4A6418F8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C12E178-D70E-4B83-0C6B-27F99052A1AB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F7FDBC-0CD8-DAF3-9223-A2B2214CCF1E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>
                <a:solidFill>
                  <a:schemeClr val="tx1"/>
                </a:solidFill>
              </a:rPr>
              <a:t>Si le processus est </a:t>
            </a:r>
            <a:r>
              <a:rPr lang="en-US" sz="2000" dirty="0" err="1">
                <a:solidFill>
                  <a:schemeClr val="tx1"/>
                </a:solidFill>
              </a:rPr>
              <a:t>isotrope</a:t>
            </a:r>
            <a:r>
              <a:rPr lang="en-US" sz="2000" dirty="0">
                <a:solidFill>
                  <a:schemeClr val="tx1"/>
                </a:solidFill>
              </a:rPr>
              <a:t> ,</a:t>
            </a:r>
            <a:r>
              <a:rPr lang="el-GR" sz="2000" dirty="0">
                <a:solidFill>
                  <a:schemeClr val="tx2">
                    <a:lumMod val="75000"/>
                  </a:schemeClr>
                </a:solidFill>
              </a:rPr>
              <a:t>Θ</a:t>
            </a: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depend </a:t>
            </a:r>
            <a:r>
              <a:rPr lang="en-US" sz="2000" dirty="0" err="1">
                <a:solidFill>
                  <a:schemeClr val="tx1"/>
                </a:solidFill>
              </a:rPr>
              <a:t>seulement</a:t>
            </a:r>
            <a:r>
              <a:rPr lang="en-US" sz="2000" dirty="0">
                <a:solidFill>
                  <a:schemeClr val="tx1"/>
                </a:solidFill>
              </a:rPr>
              <a:t> de la distance  h=||x1-x2||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942208-A6BE-1CAB-30A0-4C91F4F55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027" y="2564326"/>
            <a:ext cx="4054191" cy="707922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70A60DCE-4656-B8FB-D038-FAD60571034B}"/>
              </a:ext>
            </a:extLst>
          </p:cNvPr>
          <p:cNvSpPr txBox="1"/>
          <p:nvPr/>
        </p:nvSpPr>
        <p:spPr>
          <a:xfrm>
            <a:off x="51464" y="3127262"/>
            <a:ext cx="29260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1</a:t>
            </a:r>
            <a:endParaRPr lang="fr-FR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 sz="2400" b="1">
                <a:solidFill>
                  <a:srgbClr val="EA580C"/>
                </a:solidFill>
              </a:defRPr>
            </a:pP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70B8396-81B7-FA11-7218-3434A2956428}"/>
              </a:ext>
            </a:extLst>
          </p:cNvPr>
          <p:cNvSpPr txBox="1"/>
          <p:nvPr/>
        </p:nvSpPr>
        <p:spPr>
          <a:xfrm>
            <a:off x="3510568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1 &lt; Θ &lt; 2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3AD0C5B-5F73-B594-CED0-6327404C6A0B}"/>
              </a:ext>
            </a:extLst>
          </p:cNvPr>
          <p:cNvSpPr txBox="1"/>
          <p:nvPr/>
        </p:nvSpPr>
        <p:spPr>
          <a:xfrm>
            <a:off x="7502697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2</a:t>
            </a:r>
          </a:p>
        </p:txBody>
      </p:sp>
    </p:spTree>
    <p:extLst>
      <p:ext uri="{BB962C8B-B14F-4D97-AF65-F5344CB8AC3E}">
        <p14:creationId xmlns:p14="http://schemas.microsoft.com/office/powerpoint/2010/main" val="185968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9B07-953B-2B10-7BF4-378F7833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61F060-6595-0E78-927C-C78299D5326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CF152-08CE-45E2-B805-A45F593323B2}"/>
              </a:ext>
            </a:extLst>
          </p:cNvPr>
          <p:cNvSpPr/>
          <p:nvPr/>
        </p:nvSpPr>
        <p:spPr>
          <a:xfrm>
            <a:off x="620485" y="1665513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8E18B-DCBB-13F0-AFDC-09CF7A0771A6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Pourquoi </a:t>
            </a:r>
            <a:r>
              <a:rPr lang="el-GR" sz="2400" dirty="0">
                <a:solidFill>
                  <a:schemeClr val="bg1"/>
                </a:solidFill>
              </a:rPr>
              <a:t>Θ</a:t>
            </a:r>
            <a:r>
              <a:rPr lang="fr-FR" sz="2400" dirty="0">
                <a:solidFill>
                  <a:schemeClr val="bg1"/>
                </a:solidFill>
              </a:rPr>
              <a:t> est important pour la </a:t>
            </a:r>
            <a:r>
              <a:rPr lang="fr-FR" sz="2400" dirty="0" err="1">
                <a:solidFill>
                  <a:schemeClr val="bg1"/>
                </a:solidFill>
              </a:rPr>
              <a:t>diversifiaction</a:t>
            </a:r>
            <a:r>
              <a:rPr lang="fr-FR" sz="2400" dirty="0">
                <a:solidFill>
                  <a:schemeClr val="bg1"/>
                </a:solidFill>
              </a:rPr>
              <a:t> spatiale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E3EE252-4B34-CA09-4386-F49CDEF8F74E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Interprétation actuarielle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0B62D-10CA-94FD-6D4F-89B06BA2EBA3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Éloigner</a:t>
            </a:r>
            <a:r>
              <a:rPr lang="en-US" sz="2000" dirty="0">
                <a:solidFill>
                  <a:schemeClr val="tx1"/>
                </a:solidFill>
              </a:rPr>
              <a:t> les </a:t>
            </a:r>
            <a:r>
              <a:rPr lang="en-US" sz="2000" dirty="0" err="1">
                <a:solidFill>
                  <a:schemeClr val="tx1"/>
                </a:solidFill>
              </a:rPr>
              <a:t>risque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géographiquement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peut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réduire</a:t>
            </a:r>
            <a:r>
              <a:rPr lang="en-US" sz="2000" dirty="0">
                <a:solidFill>
                  <a:schemeClr val="tx1"/>
                </a:solidFill>
              </a:rPr>
              <a:t> la variance du </a:t>
            </a:r>
            <a:r>
              <a:rPr lang="en-US" sz="2000" dirty="0" err="1">
                <a:solidFill>
                  <a:schemeClr val="tx1"/>
                </a:solidFill>
              </a:rPr>
              <a:t>portefeuille</a:t>
            </a:r>
            <a:r>
              <a:rPr lang="en-US" sz="2000" dirty="0">
                <a:solidFill>
                  <a:schemeClr val="tx1"/>
                </a:solidFill>
              </a:rPr>
              <a:t> -&gt; diversification </a:t>
            </a:r>
            <a:r>
              <a:rPr lang="en-US" sz="2000" dirty="0" err="1">
                <a:solidFill>
                  <a:schemeClr val="tx1"/>
                </a:solidFill>
              </a:rPr>
              <a:t>spatiale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469D427-61C4-942C-7FB7-C47B2B1EBD66}"/>
              </a:ext>
            </a:extLst>
          </p:cNvPr>
          <p:cNvSpPr txBox="1"/>
          <p:nvPr/>
        </p:nvSpPr>
        <p:spPr>
          <a:xfrm>
            <a:off x="3169920" y="1871509"/>
            <a:ext cx="2926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lang="fr-FR" sz="1400" dirty="0">
                <a:solidFill>
                  <a:schemeClr val="tx2">
                    <a:lumMod val="75000"/>
                  </a:schemeClr>
                </a:solidFill>
              </a:rPr>
              <a:t>Quand la distance h augmente </a:t>
            </a:r>
            <a:endParaRPr lang="el-GR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80C5325-A2D7-2CEE-1D7D-B321A76A6DE7}"/>
              </a:ext>
            </a:extLst>
          </p:cNvPr>
          <p:cNvSpPr txBox="1"/>
          <p:nvPr/>
        </p:nvSpPr>
        <p:spPr>
          <a:xfrm>
            <a:off x="1002889" y="3343523"/>
            <a:ext cx="3421627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Θ(h) → 2</a:t>
            </a:r>
            <a:br>
              <a:rPr dirty="0">
                <a:solidFill>
                  <a:schemeClr val="accent1">
                    <a:lumMod val="50000"/>
                  </a:schemeClr>
                </a:solidFill>
              </a:rPr>
            </a:br>
            <a:r>
              <a:rPr dirty="0">
                <a:solidFill>
                  <a:schemeClr val="accent1">
                    <a:lumMod val="50000"/>
                  </a:schemeClr>
                </a:solidFill>
              </a:rPr>
              <a:t>à grande distance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1896830-3941-29E1-558E-4AB2C8C6B0B8}"/>
              </a:ext>
            </a:extLst>
          </p:cNvPr>
          <p:cNvSpPr txBox="1"/>
          <p:nvPr/>
        </p:nvSpPr>
        <p:spPr>
          <a:xfrm>
            <a:off x="6990734" y="3343522"/>
            <a:ext cx="3759223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R2(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</a:rPr>
              <a:t>λ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A)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→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Quand la région  s’agrandit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38671B34-76E5-EBFA-AD20-80365DA1CD67}"/>
              </a:ext>
            </a:extLst>
          </p:cNvPr>
          <p:cNvSpPr/>
          <p:nvPr/>
        </p:nvSpPr>
        <p:spPr>
          <a:xfrm>
            <a:off x="1445342" y="2306115"/>
            <a:ext cx="7678994" cy="854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fr-FR" dirty="0"/>
              <a:t>(h) augmente vers 2  ⟶  dépendance extrémale diminue</a:t>
            </a:r>
          </a:p>
        </p:txBody>
      </p:sp>
    </p:spTree>
    <p:extLst>
      <p:ext uri="{BB962C8B-B14F-4D97-AF65-F5344CB8AC3E}">
        <p14:creationId xmlns:p14="http://schemas.microsoft.com/office/powerpoint/2010/main" val="373042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7370-5DE3-71AF-9F5F-D851C8D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4506C5-8FE0-D3A3-EC37-60876B8D947F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56E6E-56F8-F466-7578-368F126BFD69}"/>
              </a:ext>
            </a:extLst>
          </p:cNvPr>
          <p:cNvSpPr/>
          <p:nvPr/>
        </p:nvSpPr>
        <p:spPr>
          <a:xfrm>
            <a:off x="620482" y="1572281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D5614B-84E8-00EE-A2A1-362C047A67E2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Lien avec le </a:t>
            </a:r>
            <a:r>
              <a:rPr lang="fr-FR" sz="2400" dirty="0" err="1">
                <a:solidFill>
                  <a:schemeClr val="bg1"/>
                </a:solidFill>
              </a:rPr>
              <a:t>mixing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278DCFF-8D10-33E7-0B64-9CD59C92CDE2}"/>
              </a:ext>
            </a:extLst>
          </p:cNvPr>
          <p:cNvSpPr/>
          <p:nvPr/>
        </p:nvSpPr>
        <p:spPr>
          <a:xfrm>
            <a:off x="620481" y="4670190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En somme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994698-6494-BB87-318A-0F8E3D11F5B1}"/>
              </a:ext>
            </a:extLst>
          </p:cNvPr>
          <p:cNvSpPr/>
          <p:nvPr/>
        </p:nvSpPr>
        <p:spPr>
          <a:xfrm>
            <a:off x="620481" y="5163051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D7AC9-1E1D-E672-B223-B8FA4574475E}"/>
              </a:ext>
            </a:extLst>
          </p:cNvPr>
          <p:cNvSpPr txBox="1"/>
          <p:nvPr/>
        </p:nvSpPr>
        <p:spPr>
          <a:xfrm>
            <a:off x="2231923" y="1975218"/>
            <a:ext cx="552572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62A46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r(h) = 2 − Θ(h)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CA9BA43-8C8D-C51B-FD8B-EE9B8B04E139}"/>
              </a:ext>
            </a:extLst>
          </p:cNvPr>
          <p:cNvSpPr txBox="1"/>
          <p:nvPr/>
        </p:nvSpPr>
        <p:spPr>
          <a:xfrm>
            <a:off x="731519" y="2899201"/>
            <a:ext cx="844197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191919"/>
                </a:solidFill>
              </a:defRPr>
            </a:pPr>
            <a:r>
              <a:rPr sz="2400" dirty="0"/>
              <a:t>Θ(h) → 2  ⇔  r(h) → 0</a:t>
            </a:r>
            <a:br>
              <a:rPr sz="2400" dirty="0"/>
            </a:br>
            <a:r>
              <a:rPr sz="2400" dirty="0"/>
              <a:t>Dans le cadre de </a:t>
            </a:r>
            <a:r>
              <a:rPr sz="2400" dirty="0" err="1"/>
              <a:t>l’article</a:t>
            </a:r>
            <a:r>
              <a:rPr sz="2400" dirty="0"/>
              <a:t>, </a:t>
            </a:r>
            <a:r>
              <a:rPr sz="2400" dirty="0" err="1"/>
              <a:t>cela</a:t>
            </a:r>
            <a:r>
              <a:rPr sz="2400" dirty="0"/>
              <a:t> </a:t>
            </a:r>
            <a:r>
              <a:rPr sz="2400" dirty="0" err="1"/>
              <a:t>caractérise</a:t>
            </a:r>
            <a:r>
              <a:rPr sz="2400" dirty="0"/>
              <a:t> le mixing.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C70A6-4555-A880-F161-8560BE0CF83F}"/>
              </a:ext>
            </a:extLst>
          </p:cNvPr>
          <p:cNvSpPr txBox="1"/>
          <p:nvPr/>
        </p:nvSpPr>
        <p:spPr>
          <a:xfrm>
            <a:off x="1032387" y="5373546"/>
            <a:ext cx="989686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62A46"/>
                </a:solidFill>
              </a:defRPr>
            </a:pPr>
            <a:r>
              <a:rPr dirty="0"/>
              <a:t> Θ </a:t>
            </a:r>
            <a:r>
              <a:rPr dirty="0" err="1"/>
              <a:t>relie</a:t>
            </a:r>
            <a:r>
              <a:rPr dirty="0"/>
              <a:t> </a:t>
            </a:r>
            <a:r>
              <a:rPr dirty="0" err="1"/>
              <a:t>dépendance</a:t>
            </a:r>
            <a:r>
              <a:rPr dirty="0"/>
              <a:t> des </a:t>
            </a:r>
            <a:r>
              <a:rPr dirty="0" err="1"/>
              <a:t>extrêmes</a:t>
            </a:r>
            <a:r>
              <a:rPr dirty="0"/>
              <a:t>, </a:t>
            </a:r>
            <a:r>
              <a:rPr dirty="0" err="1"/>
              <a:t>propriétés</a:t>
            </a:r>
            <a:r>
              <a:rPr dirty="0"/>
              <a:t> du processus max-stable et diversification </a:t>
            </a:r>
            <a:r>
              <a:rPr dirty="0" err="1"/>
              <a:t>géographique</a:t>
            </a:r>
            <a:r>
              <a:rPr dirty="0"/>
              <a:t> du </a:t>
            </a:r>
            <a:r>
              <a:rPr dirty="0" err="1"/>
              <a:t>risque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0678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</TotalTime>
  <Words>944</Words>
  <Application>Microsoft Office PowerPoint</Application>
  <PresentationFormat>Grand écran</PresentationFormat>
  <Paragraphs>104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Mbaye KEBE</cp:lastModifiedBy>
  <cp:revision>7</cp:revision>
  <dcterms:created xsi:type="dcterms:W3CDTF">2026-09-26T13:17:56Z</dcterms:created>
  <dcterms:modified xsi:type="dcterms:W3CDTF">2026-09-27T21:47:55Z</dcterms:modified>
</cp:coreProperties>
</file>