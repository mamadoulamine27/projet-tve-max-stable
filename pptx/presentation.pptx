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107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04731F-3821-431B-A539-6BD7AE6B6915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3F3EC-CB26-4D0C-8BFC-FED84A6526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137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3F3EC-CB26-4D0C-8BFC-FED84A6526B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9625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DDACA-E00B-33AC-7E7B-CE41118AF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8F2740C-CED5-5AC1-33A4-4A668099F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12EC472-460B-FAE1-31BA-988735601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E8511B3-46DC-B04E-C7F8-33E524A3A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3F3EC-CB26-4D0C-8BFC-FED84A6526B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0511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BEFCB1-918D-DEAF-AE7E-ED64D8144E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9EEA0D-ADEB-8A94-3590-6250BE61EA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9E3E80-49DF-76AB-31DD-9D3B5207A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16BF616-713A-375E-C3CA-F14DB6FB5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8CC21B-16F5-0690-5F13-AB2D6B515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73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D79F62-5074-CE20-DD60-8DAB8A5EA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B42937-6BE1-A02C-4896-E63C7D091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F331C5-5D37-F0C3-BD28-C7726A7A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5C083B6-A8F3-B8F9-E4F9-63C27BCF0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61FA65E-A14F-6619-1EB9-676C2008C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066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12360B-53AA-D8A6-B3D5-941A7DF65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C3208B8-3ADD-B4AC-48F1-7EA72A4409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753FD6-1407-7968-2431-9450416D5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9931D0-062F-BA78-3822-7DF377C78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175599-E9BA-2A73-CD80-C4A756101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860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987A14-750C-3643-E50A-976D67E4F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18D798-A927-C154-44A7-FD2F0B2B0D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5782539-4AE5-E6B2-4556-4D41ED736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FA368B5-2D49-34BA-E88C-69ADDAD1D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EAA88AE-F581-78AD-87E7-C45BCB714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9F317-717D-F34B-230F-CB36028B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878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83464C-67EB-0AB5-5AB1-90099B623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BA4B16-32EE-1418-147E-2EB6DA798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FFB78F9-2347-AB5F-B583-68738C452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E0E12FD-87B7-23BB-62CC-BFB18C9955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9789A33-5373-5731-CE35-7A49878BA3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C3A1896-D6EA-FE94-943B-CE02599D7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15AF605-2DB2-992D-01ED-EB2793509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EEB9A95-DC66-5B7B-9227-6C665AC8A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4317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5690B8-92B4-C2FB-5FEF-7E4D96403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C0ED54F-BE59-9B33-3FD9-4D6F3E0E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4C6AD3A-D8A2-ACEB-4850-2C8BE8B10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62B590C-AF75-73B9-DF2B-5812B4C41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742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D56A30E-6A63-3EE8-CD0E-1B269A2DA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8B9A556-2B29-C768-4AED-A24B205BF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1AFA9D-E763-385D-1EF3-445C93185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4826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9217E6-CB9D-36DD-A085-93EF0A02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D407AD-ECBD-499D-4AC1-BD799E9A7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4623337-5280-C293-02A3-90915D8F4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E89990C-72BB-C501-6CBE-C7642DDDD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4E37D54-4456-307A-CBDB-2A1D8CDCC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D674DF0-08DE-F2F6-0EA3-548EF15C9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6106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8A0B31-267A-C229-4A50-F845B5A39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E6F6957-8A6B-04D3-4A72-7F0FE06C57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C7306EE-3FA0-A645-EA04-A0A9AC2255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9DFC83A-456C-B275-598E-975E65500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67249AA-4A45-7CF2-3E41-8DD6FAE86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7BF866-2DFF-4866-E312-17965CE56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1358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EEC614-62A8-15C4-D36B-D8C5EE0C4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A5BE313-825D-6D10-BF4D-23F5BBA3E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2711DB-032F-4292-05F4-6A7DFDCC6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6F068A-E1A1-8BED-00CA-2C85CB107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3D18E2-C649-B84E-C5D9-00E0F174A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1636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8B72964-C026-39DC-E499-3FB196C62C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6E8720E-77DC-8214-5625-0B0AAC162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34F529-0462-80AB-B446-9DBF3BCD9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4F0D82-5EF6-EB6F-4EE9-BD5AD7217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D62675-45D5-FBAA-E273-781749600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119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3ABE3DA-FFF2-B42A-9844-46D2ABF09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59645C-5FDB-A3DE-4452-A96300DB2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E1B8762-392B-20E4-FE4E-6A7323F1C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151C2B-66C7-9A0B-70F1-9D4E39B5EF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778766-72C3-A8AD-6F25-6838D94CDA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3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15888697-008B-7CF5-7C44-A0CFB875FF8F}"/>
              </a:ext>
            </a:extLst>
          </p:cNvPr>
          <p:cNvSpPr/>
          <p:nvPr/>
        </p:nvSpPr>
        <p:spPr>
          <a:xfrm>
            <a:off x="930728" y="587828"/>
            <a:ext cx="10330543" cy="14695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MESURES DE RISQUE SPATIALE ET PROCESSUS MAX STABLE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BE003A2-E7A4-7BD7-339F-96DD57B2B38E}"/>
              </a:ext>
            </a:extLst>
          </p:cNvPr>
          <p:cNvSpPr txBox="1"/>
          <p:nvPr/>
        </p:nvSpPr>
        <p:spPr>
          <a:xfrm>
            <a:off x="3819932" y="3429000"/>
            <a:ext cx="39417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ISUP – MASTER 2 ACTUARIAT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4369230-3A33-CF4C-2A9D-2F83C5917D40}"/>
              </a:ext>
            </a:extLst>
          </p:cNvPr>
          <p:cNvSpPr txBox="1"/>
          <p:nvPr/>
        </p:nvSpPr>
        <p:spPr>
          <a:xfrm>
            <a:off x="2992618" y="2377161"/>
            <a:ext cx="681039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BEYE CHEIKH – KEBE MAMADOU LAMINE</a:t>
            </a:r>
          </a:p>
          <a:p>
            <a:r>
              <a:rPr lang="fr-FR" sz="2800" b="1" dirty="0"/>
              <a:t>KEBE MBAYE – SENE ABDOULAYE </a:t>
            </a:r>
          </a:p>
        </p:txBody>
      </p:sp>
      <p:pic>
        <p:nvPicPr>
          <p:cNvPr id="10" name="Image 9" descr="L'ESILV signe un accord de double diplôme Ingénieur Statisticien ...">
            <a:extLst>
              <a:ext uri="{FF2B5EF4-FFF2-40B4-BE49-F238E27FC236}">
                <a16:creationId xmlns:a16="http://schemas.microsoft.com/office/drawing/2014/main" id="{736C0712-8F47-712F-83DB-92FA041F2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757" y="4811134"/>
            <a:ext cx="2302616" cy="1337687"/>
          </a:xfrm>
          <a:prstGeom prst="rect">
            <a:avLst/>
          </a:prstGeom>
        </p:spPr>
      </p:pic>
      <p:pic>
        <p:nvPicPr>
          <p:cNvPr id="11" name="Image 10" descr="Avis et témoignages sur Sorbonne Université - Capitaine Study">
            <a:extLst>
              <a:ext uri="{FF2B5EF4-FFF2-40B4-BE49-F238E27FC236}">
                <a16:creationId xmlns:a16="http://schemas.microsoft.com/office/drawing/2014/main" id="{BE687DC5-ECA9-6CE1-3DA6-5B48E3F24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4811134"/>
            <a:ext cx="2387697" cy="1555400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2BF56E1-2BF0-DBE9-FC81-01C8E74F444D}"/>
              </a:ext>
            </a:extLst>
          </p:cNvPr>
          <p:cNvSpPr txBox="1"/>
          <p:nvPr/>
        </p:nvSpPr>
        <p:spPr>
          <a:xfrm>
            <a:off x="4667038" y="4067071"/>
            <a:ext cx="23333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28 octobre 2026</a:t>
            </a:r>
          </a:p>
        </p:txBody>
      </p:sp>
    </p:spTree>
    <p:extLst>
      <p:ext uri="{BB962C8B-B14F-4D97-AF65-F5344CB8AC3E}">
        <p14:creationId xmlns:p14="http://schemas.microsoft.com/office/powerpoint/2010/main" val="1112297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C28E021-D238-606F-8283-384AF4A937D6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CONTEXTE ET MOTIVATION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1F642A-5FE3-94C8-02D6-CA935ED03C18}"/>
              </a:ext>
            </a:extLst>
          </p:cNvPr>
          <p:cNvSpPr/>
          <p:nvPr/>
        </p:nvSpPr>
        <p:spPr>
          <a:xfrm>
            <a:off x="620485" y="1665514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>
                <a:solidFill>
                  <a:schemeClr val="tx1"/>
                </a:solidFill>
              </a:rPr>
              <a:t>Evènement environnementaux extrêmes (canicules, ouragans, inondations…) : </a:t>
            </a:r>
          </a:p>
          <a:p>
            <a:r>
              <a:rPr lang="fr-FR" dirty="0">
                <a:solidFill>
                  <a:schemeClr val="tx1"/>
                </a:solidFill>
              </a:rPr>
              <a:t>des évènements qui touche une étendue géographique, pas un seul point isolé.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F4736954-6508-E726-37BA-33030646B0D7}"/>
              </a:ext>
            </a:extLst>
          </p:cNvPr>
          <p:cNvSpPr/>
          <p:nvPr/>
        </p:nvSpPr>
        <p:spPr>
          <a:xfrm>
            <a:off x="620485" y="1274668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Aléa climatique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D5DF1FF2-4B51-7125-0618-054FCDD73A51}"/>
              </a:ext>
            </a:extLst>
          </p:cNvPr>
          <p:cNvSpPr/>
          <p:nvPr/>
        </p:nvSpPr>
        <p:spPr>
          <a:xfrm>
            <a:off x="620485" y="2896121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Décisions des autorités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09E99E-50FB-149D-B1DA-EC87A093C72C}"/>
              </a:ext>
            </a:extLst>
          </p:cNvPr>
          <p:cNvSpPr/>
          <p:nvPr/>
        </p:nvSpPr>
        <p:spPr>
          <a:xfrm>
            <a:off x="620485" y="3286835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>
                <a:solidFill>
                  <a:schemeClr val="tx1"/>
                </a:solidFill>
              </a:rPr>
              <a:t>Où est-il raisonnable de construire ?</a:t>
            </a:r>
          </a:p>
          <a:p>
            <a:r>
              <a:rPr lang="fr-FR" dirty="0">
                <a:solidFill>
                  <a:schemeClr val="tx1"/>
                </a:solidFill>
              </a:rPr>
              <a:t>Quelles zones classer à risque ?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74960A2B-1F31-4D99-A990-82A33BDD1BFF}"/>
              </a:ext>
            </a:extLst>
          </p:cNvPr>
          <p:cNvSpPr/>
          <p:nvPr/>
        </p:nvSpPr>
        <p:spPr>
          <a:xfrm>
            <a:off x="620484" y="4528978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Portefeuille d’assurance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2E0BBC-94DF-CDA2-A069-72E8064AAD50}"/>
              </a:ext>
            </a:extLst>
          </p:cNvPr>
          <p:cNvSpPr/>
          <p:nvPr/>
        </p:nvSpPr>
        <p:spPr>
          <a:xfrm>
            <a:off x="620484" y="4909458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de la zone géographique de souscription determine directement l’exposition au risque.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8338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CECBC-3B52-4B63-541D-D70BC512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519A28-2A6E-A4D7-5863-BB779C0A4588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CONTEXTE ET MOTIVATION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A8E4FFE-8178-B87D-53A2-91AA17AE7CC2}"/>
                  </a:ext>
                </a:extLst>
              </p:cNvPr>
              <p:cNvSpPr/>
              <p:nvPr/>
            </p:nvSpPr>
            <p:spPr>
              <a:xfrm>
                <a:off x="620485" y="1665513"/>
                <a:ext cx="10308771" cy="2939143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28600" indent="-228600">
                  <a:spcAft>
                    <a:spcPts val="1600"/>
                  </a:spcAft>
                  <a:buSzPct val="100000"/>
                  <a:buChar char="•"/>
                </a:pPr>
                <a:r>
                  <a:rPr lang="en-US" sz="2000" b="1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Idée intuitive 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appliquer une mesure de risque Π (variance,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VaR.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..)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en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chaque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point,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puis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moyenner sur la région A.</a:t>
                </a:r>
              </a:p>
              <a:p>
                <a:pPr>
                  <a:spcAft>
                    <a:spcPts val="1600"/>
                  </a:spcAft>
                  <a:buSzPct val="100000"/>
                </a:pPr>
                <a14:m>
                  <m:oMathPara xmlns:m="http://schemas.openxmlformats.org/officeDocument/2006/math">
                    <m:oMath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𝛱</m:t>
                      </m:r>
                      <m:d>
                        <m:dPr>
                          <m:ctrlP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20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subSup"/>
                          <m:grow m:val="on"/>
                          <m:supHide m:val="on"/>
                          <m:ctrlP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/>
                        <m:e>
                          <m: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𝛱</m:t>
                          </m:r>
                          <m:d>
                            <m:dPr>
                              <m:ctrlPr>
                                <a:rPr 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228600" indent="-228600">
                  <a:spcAft>
                    <a:spcPts val="1600"/>
                  </a:spcAft>
                  <a:buSzPct val="100000"/>
                  <a:buChar char="•"/>
                </a:pPr>
                <a:r>
                  <a:rPr lang="en-US" sz="2000" b="1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Problème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: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le processus de coût est stationnaire 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𝛱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d>
                          <m:dPr>
                            <m:ctrlP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=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𝛱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d>
                          <m:dPr>
                            <m:ctrlPr>
                              <a:rPr lang="fr-FR" sz="2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 marL="228600" indent="-228600">
                  <a:spcAft>
                    <a:spcPts val="1600"/>
                  </a:spcAft>
                  <a:buSzPct val="100000"/>
                  <a:buChar char="•"/>
                </a:pPr>
                <a:r>
                  <a:rPr lang="en-US" sz="2000" b="1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Résultat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: la mesure « spatiale » se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réduit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à la mesure d'un site unique — toute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l'information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de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dépendance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spatiale </a:t>
                </a:r>
                <a:r>
                  <a:rPr lang="en-US" sz="2000" dirty="0" err="1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disparaît</a:t>
                </a:r>
                <a:r>
                  <a:rPr lang="en-US" sz="2000" dirty="0">
                    <a:solidFill>
                      <a:srgbClr val="1B243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2000" dirty="0"/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A8E4FFE-8178-B87D-53A2-91AA17AE7C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85" y="1665513"/>
                <a:ext cx="10308771" cy="2939143"/>
              </a:xfrm>
              <a:prstGeom prst="rect">
                <a:avLst/>
              </a:prstGeom>
              <a:blipFill>
                <a:blip r:embed="rId2"/>
                <a:stretch>
                  <a:fillRect l="-590" t="-619" r="-531" b="-268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A824B4D3-A8C0-EAB2-2810-BB09BA22E0E3}"/>
              </a:ext>
            </a:extLst>
          </p:cNvPr>
          <p:cNvSpPr/>
          <p:nvPr/>
        </p:nvSpPr>
        <p:spPr>
          <a:xfrm>
            <a:off x="620485" y="1274668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Approche naïve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73C4B7B1-B0C0-334C-FA24-768894C2B8FA}"/>
              </a:ext>
            </a:extLst>
          </p:cNvPr>
          <p:cNvSpPr/>
          <p:nvPr/>
        </p:nvSpPr>
        <p:spPr>
          <a:xfrm>
            <a:off x="620484" y="4812006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Conséquence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5535385-4EE7-1721-B96B-00A58CB439A1}"/>
              </a:ext>
            </a:extLst>
          </p:cNvPr>
          <p:cNvSpPr/>
          <p:nvPr/>
        </p:nvSpPr>
        <p:spPr>
          <a:xfrm>
            <a:off x="620484" y="5214780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25000"/>
              </a:lnSpc>
            </a:pP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Agréger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d’abord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–&gt;  </a:t>
            </a: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risque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18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C4AD1-EED4-A8A8-4A53-E76CF213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283BAFA-FBC1-E48D-6F24-82C88BBB20CA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MESURE DE RISQUE SPATIAL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4B2840F-E2BE-E9D3-0A7D-AD9C9FACF78D}"/>
                  </a:ext>
                </a:extLst>
              </p:cNvPr>
              <p:cNvSpPr/>
              <p:nvPr/>
            </p:nvSpPr>
            <p:spPr>
              <a:xfrm>
                <a:off x="609598" y="1448839"/>
                <a:ext cx="10308771" cy="1469573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spcAft>
                    <a:spcPts val="1600"/>
                  </a:spcAft>
                  <a:buSzPct val="100000"/>
                </a:pPr>
                <a:r>
                  <a:rPr lang="fr-FR" sz="2000" dirty="0">
                    <a:solidFill>
                      <a:schemeClr val="tx1"/>
                    </a:solidFill>
                  </a:rPr>
                  <a:t>Soit </a:t>
                </a:r>
                <a:r>
                  <a:rPr lang="fr-FR" sz="2000" b="1" dirty="0">
                    <a:solidFill>
                      <a:schemeClr val="tx1"/>
                    </a:solidFill>
                  </a:rPr>
                  <a:t>A</a:t>
                </a:r>
                <a:r>
                  <a:rPr lang="fr-FR" sz="2000" dirty="0">
                    <a:solidFill>
                      <a:schemeClr val="tx1"/>
                    </a:solidFill>
                  </a:rPr>
                  <a:t> la région, </a:t>
                </a:r>
                <a:r>
                  <a:rPr lang="fr-FR" sz="2000" b="1" dirty="0">
                    <a:solidFill>
                      <a:schemeClr val="tx1"/>
                    </a:solidFill>
                  </a:rPr>
                  <a:t>P</a:t>
                </a:r>
                <a:r>
                  <a:rPr lang="fr-FR" sz="2000" dirty="0">
                    <a:solidFill>
                      <a:schemeClr val="tx1"/>
                    </a:solidFill>
                  </a:rPr>
                  <a:t> distribution du coup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</m:ctrlPr>
                      </m:sSubPr>
                      <m:e>
                        <m:r>
                          <a:rPr lang="en-US" sz="20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𝑪</m:t>
                        </m:r>
                      </m:e>
                      <m:sub>
                        <m:r>
                          <a:rPr lang="en-US" sz="20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𝑷</m:t>
                        </m:r>
                      </m:sub>
                    </m:sSub>
                  </m:oMath>
                </a14:m>
                <a:r>
                  <a:rPr lang="fr-FR" sz="2000" dirty="0">
                    <a:solidFill>
                      <a:schemeClr val="tx1"/>
                    </a:solidFill>
                  </a:rPr>
                  <a:t>.</a:t>
                </a:r>
              </a:p>
              <a:p>
                <a:pPr>
                  <a:spcAft>
                    <a:spcPts val="1600"/>
                  </a:spcAft>
                  <a:buSzPct val="100000"/>
                </a:pPr>
                <a:r>
                  <a:rPr lang="fr-FR" sz="2000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La perte agrégée normalisée est définie par : </a:t>
                </a:r>
                <a:r>
                  <a:rPr lang="en-US" sz="2000" b="1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Lₙ(A,P)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</m:ctrlPr>
                      </m:fPr>
                      <m:num>
                        <m:r>
                          <a:rPr lang="fr-FR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𝟏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fr-FR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fr-FR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𝑨</m:t>
                            </m:r>
                          </m:e>
                        </m:d>
                      </m:den>
                    </m:f>
                  </m:oMath>
                </a14:m>
                <a:r>
                  <a:rPr lang="fr-FR" sz="2000" b="1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limLoc m:val="subSup"/>
                        <m:grow m:val="on"/>
                        <m:supHide m:val="on"/>
                        <m:ctrlPr>
                          <a:rPr lang="en-US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</m:ctrlPr>
                      </m:naryPr>
                      <m:sub>
                        <m:r>
                          <a:rPr lang="en-US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𝑨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sSubPr>
                          <m:e>
                            <m: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𝑪</m:t>
                            </m:r>
                          </m:e>
                          <m:sub>
                            <m: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𝑷</m:t>
                            </m:r>
                          </m:sub>
                        </m:sSub>
                        <m:d>
                          <m:dPr>
                            <m:ctrlP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𝒙</m:t>
                            </m:r>
                          </m:e>
                        </m:d>
                        <m:r>
                          <a:rPr lang="en-US" sz="2000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ⅆ</m:t>
                        </m:r>
                        <m:r>
                          <a:rPr lang="en-US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𝒙</m:t>
                        </m:r>
                      </m:e>
                    </m:nary>
                  </m:oMath>
                </a14:m>
                <a:endParaRPr lang="en-US" sz="2000" b="1" dirty="0">
                  <a:solidFill>
                    <a:srgbClr val="5B6B78"/>
                  </a:solidFill>
                  <a:latin typeface="Cambria Math" pitchFamily="34" charset="0"/>
                  <a:ea typeface="Cambria Math" pitchFamily="34" charset="-122"/>
                  <a:cs typeface="Cambria Math" pitchFamily="34" charset="-120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4B2840F-E2BE-E9D3-0A7D-AD9C9FACF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1448839"/>
                <a:ext cx="10308771" cy="1469573"/>
              </a:xfrm>
              <a:prstGeom prst="rect">
                <a:avLst/>
              </a:prstGeom>
              <a:blipFill>
                <a:blip r:embed="rId3"/>
                <a:stretch>
                  <a:fillRect l="-5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9ADA16F-C3B6-C3D2-70CD-5A5D803F6E9C}"/>
              </a:ext>
            </a:extLst>
          </p:cNvPr>
          <p:cNvSpPr/>
          <p:nvPr/>
        </p:nvSpPr>
        <p:spPr>
          <a:xfrm>
            <a:off x="609598" y="1068359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Définition 1 : Perte agrégée normalisée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27BA26A1-A9D6-238E-6ED9-98BEE49E345D}"/>
              </a:ext>
            </a:extLst>
          </p:cNvPr>
          <p:cNvSpPr/>
          <p:nvPr/>
        </p:nvSpPr>
        <p:spPr>
          <a:xfrm>
            <a:off x="609598" y="3134567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Définition 2 : Mesure de risque spatial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284062B-A33A-5D67-1BE4-60B3DF392E8D}"/>
                  </a:ext>
                </a:extLst>
              </p:cNvPr>
              <p:cNvSpPr/>
              <p:nvPr/>
            </p:nvSpPr>
            <p:spPr>
              <a:xfrm>
                <a:off x="609598" y="3525413"/>
                <a:ext cx="10308771" cy="193817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spcAft>
                    <a:spcPts val="1600"/>
                  </a:spcAft>
                  <a:buSzPct val="100000"/>
                </a:pPr>
                <a:r>
                  <a:rPr lang="fr-FR" sz="2000" dirty="0">
                    <a:solidFill>
                      <a:schemeClr val="tx1"/>
                    </a:solidFill>
                  </a:rPr>
                  <a:t>Soit </a:t>
                </a:r>
                <a:r>
                  <a:rPr lang="fr-FR" sz="2000" b="1" dirty="0">
                    <a:solidFill>
                      <a:schemeClr val="tx1"/>
                    </a:solidFill>
                  </a:rPr>
                  <a:t>A</a:t>
                </a:r>
                <a:r>
                  <a:rPr lang="fr-FR" sz="2000" dirty="0">
                    <a:solidFill>
                      <a:schemeClr val="tx1"/>
                    </a:solidFill>
                  </a:rPr>
                  <a:t> la région, </a:t>
                </a:r>
                <a:r>
                  <a:rPr lang="fr-FR" sz="2000" b="1" dirty="0">
                    <a:solidFill>
                      <a:schemeClr val="tx1"/>
                    </a:solidFill>
                  </a:rPr>
                  <a:t>P</a:t>
                </a:r>
                <a:r>
                  <a:rPr lang="fr-FR" sz="2000" dirty="0">
                    <a:solidFill>
                      <a:schemeClr val="tx1"/>
                    </a:solidFill>
                  </a:rPr>
                  <a:t> distribution du coup Cp.</a:t>
                </a:r>
              </a:p>
              <a:p>
                <a:pPr>
                  <a:spcAft>
                    <a:spcPts val="1600"/>
                  </a:spcAft>
                  <a:buSzPct val="100000"/>
                </a:pPr>
                <a:r>
                  <a:rPr lang="fr-FR" sz="2000" dirty="0">
                    <a:solidFill>
                      <a:schemeClr val="tx1"/>
                    </a:solidFill>
                  </a:rPr>
                  <a:t>La mesure de risque spatial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fr-FR" sz="2000" b="1" dirty="0">
                    <a:solidFill>
                      <a:schemeClr val="tx1"/>
                    </a:solidFill>
                  </a:rPr>
                  <a:t> </a:t>
                </a:r>
                <a:r>
                  <a:rPr lang="fr-FR" sz="2000" dirty="0">
                    <a:solidFill>
                      <a:schemeClr val="tx1"/>
                    </a:solidFill>
                  </a:rPr>
                  <a:t>est donnée par :  </a:t>
                </a:r>
              </a:p>
              <a:p>
                <a:pPr>
                  <a:spcAft>
                    <a:spcPts val="1600"/>
                  </a:spcAft>
                  <a:buSzPct val="100000"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FR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sub>
                      </m:sSub>
                      <m:r>
                        <a:rPr lang="fr-FR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𝜫</m:t>
                      </m:r>
                      <m:d>
                        <m:dPr>
                          <m:ctrlPr>
                            <a:rPr lang="fr-FR" sz="20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e>
                            <m:sub>
                              <m: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  <m:r>
                                <a:rPr lang="fr-FR" sz="2000" b="1" i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0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sz="2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284062B-A33A-5D67-1BE4-60B3DF392E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3525413"/>
                <a:ext cx="10308771" cy="1938177"/>
              </a:xfrm>
              <a:prstGeom prst="rect">
                <a:avLst/>
              </a:prstGeom>
              <a:blipFill>
                <a:blip r:embed="rId4"/>
                <a:stretch>
                  <a:fillRect l="-5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853FD590-48C0-ECB8-7686-3F7C07A77034}"/>
              </a:ext>
            </a:extLst>
          </p:cNvPr>
          <p:cNvSpPr txBox="1"/>
          <p:nvPr/>
        </p:nvSpPr>
        <p:spPr>
          <a:xfrm>
            <a:off x="609598" y="5593698"/>
            <a:ext cx="11573618" cy="11798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 |A|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donne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une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perte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« par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unité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surface » (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interprétable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comme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perte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 police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d'assurance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Contrairement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l'espérance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la variance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Lₙ(A,P)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capturent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spatiale de Cₚ.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2944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B9F5F-F41F-3E5B-3367-65838A222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39110-6803-B194-B22F-A79BA9634C43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MESURE DE RISQUE SPATIAL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647EDF-0B3F-E76C-82D1-1C482CF075FF}"/>
              </a:ext>
            </a:extLst>
          </p:cNvPr>
          <p:cNvSpPr/>
          <p:nvPr/>
        </p:nvSpPr>
        <p:spPr>
          <a:xfrm>
            <a:off x="609598" y="1448839"/>
            <a:ext cx="10308771" cy="4941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600"/>
              </a:spcAft>
              <a:buSzPct val="100000"/>
            </a:pPr>
            <a:endParaRPr lang="en-US" sz="2000" b="1" dirty="0">
              <a:solidFill>
                <a:srgbClr val="5B6B78"/>
              </a:solidFill>
              <a:latin typeface="Cambria Math" pitchFamily="34" charset="0"/>
              <a:ea typeface="Cambria Math" pitchFamily="34" charset="-122"/>
              <a:cs typeface="Cambria Math" pitchFamily="34" charset="-12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B7CA52EB-4FC0-CF23-6129-563E8C33C0AC}"/>
                  </a:ext>
                </a:extLst>
              </p:cNvPr>
              <p:cNvSpPr/>
              <p:nvPr/>
            </p:nvSpPr>
            <p:spPr>
              <a:xfrm>
                <a:off x="609598" y="1068359"/>
                <a:ext cx="10308771" cy="38048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2400" dirty="0"/>
                  <a:t>Trois axiomes pour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fr-FR" sz="2400" dirty="0"/>
                  <a:t>(.,P):</a:t>
                </a:r>
              </a:p>
            </p:txBody>
          </p:sp>
        </mc:Choice>
        <mc:Fallback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B7CA52EB-4FC0-CF23-6129-563E8C33C0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1068359"/>
                <a:ext cx="10308771" cy="380480"/>
              </a:xfrm>
              <a:prstGeom prst="roundRect">
                <a:avLst/>
              </a:prstGeom>
              <a:blipFill>
                <a:blip r:embed="rId3"/>
                <a:stretch>
                  <a:fillRect l="-649" t="-19697" b="-409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E6292000-D8D4-E90B-0654-2F92FD0862A2}"/>
              </a:ext>
            </a:extLst>
          </p:cNvPr>
          <p:cNvSpPr/>
          <p:nvPr/>
        </p:nvSpPr>
        <p:spPr>
          <a:xfrm>
            <a:off x="849086" y="1741728"/>
            <a:ext cx="8697682" cy="368547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/>
              <a:t>Invariance par translation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FCB336-C455-D70C-A00D-C7C0CE1F84A0}"/>
                  </a:ext>
                </a:extLst>
              </p:cNvPr>
              <p:cNvSpPr/>
              <p:nvPr/>
            </p:nvSpPr>
            <p:spPr>
              <a:xfrm>
                <a:off x="849087" y="2110275"/>
                <a:ext cx="8697682" cy="7293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dirty="0">
                    <a:solidFill>
                      <a:schemeClr val="tx1"/>
                    </a:solidFill>
                  </a:rPr>
                  <a:t>Soit </a:t>
                </a:r>
                <a14:m>
                  <m:oMath xmlns:m="http://schemas.openxmlformats.org/officeDocument/2006/math">
                    <m:r>
                      <a:rPr lang="fr-F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fr-F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(A+ </a:t>
                </a:r>
                <a14:m>
                  <m:oMath xmlns:m="http://schemas.openxmlformats.org/officeDocument/2006/math">
                    <m:r>
                      <a:rPr lang="fr-FR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,P)=</a:t>
                </a:r>
                <a:r>
                  <a:rPr lang="fr-FR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(A,P).</a:t>
                </a:r>
              </a:p>
              <a:p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Déplacer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la région ne change pas le risque.</a:t>
                </a:r>
                <a:endParaRPr lang="fr-F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FCB336-C455-D70C-A00D-C7C0CE1F8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87" y="2110275"/>
                <a:ext cx="8697682" cy="729340"/>
              </a:xfrm>
              <a:prstGeom prst="rect">
                <a:avLst/>
              </a:prstGeom>
              <a:blipFill>
                <a:blip r:embed="rId4"/>
                <a:stretch>
                  <a:fillRect l="-490" b="-48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F9D545FC-71F5-6EE2-6C4E-C091610AAD19}"/>
              </a:ext>
            </a:extLst>
          </p:cNvPr>
          <p:cNvSpPr/>
          <p:nvPr/>
        </p:nvSpPr>
        <p:spPr>
          <a:xfrm>
            <a:off x="849085" y="3057851"/>
            <a:ext cx="8697684" cy="368547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/>
              <a:t>Sous-additivité spatiale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B38C6E2-B2CD-DCDF-EB4F-3E1B40E2DD32}"/>
                  </a:ext>
                </a:extLst>
              </p:cNvPr>
              <p:cNvSpPr/>
              <p:nvPr/>
            </p:nvSpPr>
            <p:spPr>
              <a:xfrm>
                <a:off x="849084" y="3438332"/>
                <a:ext cx="8697685" cy="115440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1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(A₁∪A₂,P) ≤ min{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(A₁,P),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(A₂,P)}.</a:t>
                </a:r>
              </a:p>
              <a:p>
                <a:pPr>
                  <a:lnSpc>
                    <a:spcPct val="115000"/>
                  </a:lnSpc>
                </a:pP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Diversification</a:t>
                </a:r>
                <a:r>
                  <a:rPr lang="en-US" dirty="0">
                    <a:solidFill>
                      <a:srgbClr val="5B6B7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réunir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deux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régions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ne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peut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qu'améliorer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ou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maintenir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le risque.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B38C6E2-B2CD-DCDF-EB4F-3E1B40E2DD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84" y="3438332"/>
                <a:ext cx="8697685" cy="1154404"/>
              </a:xfrm>
              <a:prstGeom prst="rect">
                <a:avLst/>
              </a:prstGeom>
              <a:blipFill>
                <a:blip r:embed="rId5"/>
                <a:stretch>
                  <a:fillRect l="-49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C6720D0D-4DFE-B744-AC50-CC3FC6A22B7B}"/>
              </a:ext>
            </a:extLst>
          </p:cNvPr>
          <p:cNvSpPr/>
          <p:nvPr/>
        </p:nvSpPr>
        <p:spPr>
          <a:xfrm>
            <a:off x="849084" y="4782976"/>
            <a:ext cx="8697686" cy="38048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0000"/>
              </a:lnSpc>
            </a:pPr>
            <a:r>
              <a:rPr lang="en-US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Homogénéité</a:t>
            </a:r>
            <a:r>
              <a:rPr lang="en-US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asymptotique</a:t>
            </a:r>
            <a:r>
              <a:rPr lang="en-US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d'ordre</a:t>
            </a:r>
            <a:r>
              <a:rPr lang="en-US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−α</a:t>
            </a:r>
            <a:endParaRPr lang="en-US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01CE6F3-FCC5-6BE1-F3C1-CA0B64C464B2}"/>
                  </a:ext>
                </a:extLst>
              </p:cNvPr>
              <p:cNvSpPr/>
              <p:nvPr/>
            </p:nvSpPr>
            <p:spPr>
              <a:xfrm>
                <a:off x="849085" y="5179518"/>
                <a:ext cx="8697686" cy="91958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1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𝜆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A,P) 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</m:den>
                    </m:f>
                    <m:r>
                      <a:rPr lang="en-US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fr-FR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lorsque</m:t>
                    </m:r>
                    <m:r>
                      <a:rPr lang="fr-FR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pPr>
                  <a:lnSpc>
                    <a:spcPct val="115000"/>
                  </a:lnSpc>
                </a:pP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Décrit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la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vitesse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de convergence du risque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quand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la région </a:t>
                </a:r>
                <a:r>
                  <a:rPr lang="en-US" dirty="0" err="1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s'agrandit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(λ → ∞).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01CE6F3-FCC5-6BE1-F3C1-CA0B64C464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85" y="5179518"/>
                <a:ext cx="8697686" cy="919581"/>
              </a:xfrm>
              <a:prstGeom prst="rect">
                <a:avLst/>
              </a:prstGeom>
              <a:blipFill>
                <a:blip r:embed="rId6"/>
                <a:stretch>
                  <a:fillRect l="-490" b="-51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2245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F03EA-4ED2-FD89-3C2B-03C941346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1E8A7A1-62B0-511F-6158-1128DE6CBFA4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MESURE DE RISQUE SPATIAL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2E02D4-64B8-E9AA-318A-57D69EAADC2C}"/>
              </a:ext>
            </a:extLst>
          </p:cNvPr>
          <p:cNvSpPr/>
          <p:nvPr/>
        </p:nvSpPr>
        <p:spPr>
          <a:xfrm>
            <a:off x="620485" y="1665513"/>
            <a:ext cx="10308771" cy="35487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600"/>
              </a:spcAft>
              <a:buSzPct val="100000"/>
            </a:pPr>
            <a:r>
              <a:rPr lang="en-US" sz="36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  Cₚ(x) = E(x) · D( Z(x) )</a:t>
            </a:r>
          </a:p>
          <a:p>
            <a:pPr marL="457200" indent="-4572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E(x) : 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exposition;</a:t>
            </a:r>
          </a:p>
          <a:p>
            <a:pPr marL="457200" indent="-4572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</a:t>
            </a:r>
            <a:r>
              <a:rPr lang="en-US" sz="24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r>
              <a:rPr lang="en-US" sz="24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: 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function de </a:t>
            </a:r>
            <a:r>
              <a:rPr lang="en-US" sz="2400" dirty="0" err="1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dommage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;</a:t>
            </a:r>
          </a:p>
          <a:p>
            <a:pPr marL="457200" indent="-4572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</a:t>
            </a:r>
            <a:r>
              <a:rPr lang="en-US" sz="24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r>
              <a:rPr lang="en-US" sz="28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r>
              <a:rPr lang="en-US" sz="24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: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aléa</a:t>
            </a: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environnementaux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61E20970-1556-B15C-0A10-A20E94BF6981}"/>
              </a:ext>
            </a:extLst>
          </p:cNvPr>
          <p:cNvSpPr/>
          <p:nvPr/>
        </p:nvSpPr>
        <p:spPr>
          <a:xfrm>
            <a:off x="620485" y="1208314"/>
            <a:ext cx="10308771" cy="4468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Modèle général du processus de coût</a:t>
            </a:r>
          </a:p>
        </p:txBody>
      </p:sp>
    </p:spTree>
    <p:extLst>
      <p:ext uri="{BB962C8B-B14F-4D97-AF65-F5344CB8AC3E}">
        <p14:creationId xmlns:p14="http://schemas.microsoft.com/office/powerpoint/2010/main" val="253761008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1861</TotalTime>
  <Words>468</Words>
  <Application>Microsoft Office PowerPoint</Application>
  <PresentationFormat>Grand écran</PresentationFormat>
  <Paragraphs>51</Paragraphs>
  <Slides>6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Cambria</vt:lpstr>
      <vt:lpstr>Cambria Math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Anta Sarre</dc:creator>
  <cp:lastModifiedBy>Anta Sarre</cp:lastModifiedBy>
  <cp:revision>4</cp:revision>
  <dcterms:created xsi:type="dcterms:W3CDTF">2026-09-26T13:17:56Z</dcterms:created>
  <dcterms:modified xsi:type="dcterms:W3CDTF">2026-09-27T20:22:00Z</dcterms:modified>
</cp:coreProperties>
</file>